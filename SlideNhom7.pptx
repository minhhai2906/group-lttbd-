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8" r:id="rId3"/>
    <p:sldId id="269" r:id="rId4"/>
    <p:sldId id="270" r:id="rId5"/>
    <p:sldId id="277" r:id="rId6"/>
    <p:sldId id="271" r:id="rId7"/>
    <p:sldId id="272" r:id="rId8"/>
    <p:sldId id="273" r:id="rId9"/>
    <p:sldId id="274" r:id="rId10"/>
    <p:sldId id="275" r:id="rId11"/>
    <p:sldId id="265" r:id="rId12"/>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5E6"/>
    <a:srgbClr val="FFF2D5"/>
    <a:srgbClr val="FFF2D7"/>
    <a:srgbClr val="FA8966"/>
    <a:srgbClr val="FFE4C4"/>
    <a:srgbClr val="EECBAD"/>
    <a:srgbClr val="FFEBCD"/>
    <a:srgbClr val="E1B4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Kiểu Trung bình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3814A-568E-4222-9E82-ACA3C2A2E8CC}" type="datetimeFigureOut">
              <a:rPr lang="vi-VN" smtClean="0"/>
              <a:t>25/01/2026</a:t>
            </a:fld>
            <a:endParaRPr lang="vi-VN"/>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0FCF1-DEF9-44C2-BD38-22AEF80D2671}" type="slidenum">
              <a:rPr lang="vi-VN" smtClean="0"/>
              <a:t>‹#›</a:t>
            </a:fld>
            <a:endParaRPr lang="vi-VN"/>
          </a:p>
        </p:txBody>
      </p:sp>
    </p:spTree>
    <p:extLst>
      <p:ext uri="{BB962C8B-B14F-4D97-AF65-F5344CB8AC3E}">
        <p14:creationId xmlns:p14="http://schemas.microsoft.com/office/powerpoint/2010/main" val="1968936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Kính chào</a:t>
            </a:r>
            <a:r>
              <a:rPr lang="vi-VN" b="1"/>
              <a:t> Thầy </a:t>
            </a:r>
            <a:r>
              <a:rPr lang="vi-VN"/>
              <a:t>và các bạn.</a:t>
            </a:r>
          </a:p>
          <a:p>
            <a:r>
              <a:rPr lang="vi-VN"/>
              <a:t>Em là </a:t>
            </a:r>
            <a:r>
              <a:rPr lang="vi-VN" b="1"/>
              <a:t>Quang</a:t>
            </a:r>
            <a:r>
              <a:rPr lang="vi-VN"/>
              <a:t>. Hôm nay, em xin phép báo cáo đồ án cuối kỳ môn Lập trình thiết bị di động.</a:t>
            </a:r>
          </a:p>
          <a:p>
            <a:r>
              <a:rPr lang="vi-VN"/>
              <a:t>Đề tài nhóm em lựa chọn và phát triển là: </a:t>
            </a:r>
            <a:r>
              <a:rPr lang="vi-VN" b="1"/>
              <a:t>Xây dựng Ứng dụng đặt đồ uống trực tuyến</a:t>
            </a:r>
            <a:endParaRPr lang="vi-VN"/>
          </a:p>
          <a:p>
            <a:endParaRPr lang="vi-VN"/>
          </a:p>
        </p:txBody>
      </p:sp>
      <p:sp>
        <p:nvSpPr>
          <p:cNvPr id="4" name="Chỗ dành sẵn cho Số hiệu Bản chiếu 3"/>
          <p:cNvSpPr>
            <a:spLocks noGrp="1"/>
          </p:cNvSpPr>
          <p:nvPr>
            <p:ph type="sldNum" sz="quarter" idx="5"/>
          </p:nvPr>
        </p:nvSpPr>
        <p:spPr/>
        <p:txBody>
          <a:bodyPr/>
          <a:lstStyle/>
          <a:p>
            <a:fld id="{0F20FCF1-DEF9-44C2-BD38-22AEF80D2671}" type="slidenum">
              <a:rPr lang="vi-VN" smtClean="0"/>
              <a:t>1</a:t>
            </a:fld>
            <a:endParaRPr lang="vi-VN"/>
          </a:p>
        </p:txBody>
      </p:sp>
    </p:spTree>
    <p:extLst>
      <p:ext uri="{BB962C8B-B14F-4D97-AF65-F5344CB8AC3E}">
        <p14:creationId xmlns:p14="http://schemas.microsoft.com/office/powerpoint/2010/main" val="282812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Đây là thông tin chi tiết về quá trình thực hiện và link Source Code trên Git, em xin phép lướt qua để đi vào phần trọng tâm.</a:t>
            </a:r>
            <a:endParaRPr b="1"/>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Quy trình phát triển của em bắt đầu từ việc thiết kế UI/UX bài bản trên </a:t>
            </a:r>
            <a:r>
              <a:rPr lang="vi-VN" b="1"/>
              <a:t>Figma</a:t>
            </a:r>
            <a:r>
              <a:rPr lang="vi-VN"/>
              <a:t>. Em đã xây dựng một luồng trải nghiệm trọn vẹn từ Đăng nhập, Chọn món cho đến Thanh toán, đảm bảo tính nhất quán trước khi viết dòng code đầu tiên."</a:t>
            </a:r>
            <a:endParaRPr/>
          </a:p>
        </p:txBody>
      </p:sp>
      <p:sp>
        <p:nvSpPr>
          <p:cNvPr id="132" name="Google Shape;13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A016156C-77A3-ADB6-6F71-274A58BA82B1}"/>
            </a:ext>
          </a:extLst>
        </p:cNvPr>
        <p:cNvGrpSpPr/>
        <p:nvPr/>
      </p:nvGrpSpPr>
      <p:grpSpPr>
        <a:xfrm>
          <a:off x="0" y="0"/>
          <a:ext cx="0" cy="0"/>
          <a:chOff x="0" y="0"/>
          <a:chExt cx="0" cy="0"/>
        </a:xfrm>
      </p:grpSpPr>
      <p:sp>
        <p:nvSpPr>
          <p:cNvPr id="131" name="Google Shape;131;p4:notes">
            <a:extLst>
              <a:ext uri="{FF2B5EF4-FFF2-40B4-BE49-F238E27FC236}">
                <a16:creationId xmlns:a16="http://schemas.microsoft.com/office/drawing/2014/main" id="{41EFE7F1-4E1A-8CF9-ED36-23E88C5384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Và đây là kết quả thực tế trên thiết bị Android.</a:t>
            </a:r>
          </a:p>
          <a:p>
            <a:r>
              <a:rPr lang="vi-VN"/>
              <a:t>Em đã hiện thực hóa </a:t>
            </a:r>
            <a:r>
              <a:rPr lang="vi-VN" b="1"/>
              <a:t>chính xác đến 99%</a:t>
            </a:r>
            <a:r>
              <a:rPr lang="vi-VN"/>
              <a:t> so với bản thiết kế . Ứng dụng không chỉ có giao diện đẹp mà còn hoạt động mượt mà với đầy đủ các tính năng phức tạp như </a:t>
            </a:r>
            <a:r>
              <a:rPr lang="vi-VN" b="1"/>
              <a:t>Định vị bản đồ</a:t>
            </a:r>
            <a:r>
              <a:rPr lang="vi-VN"/>
              <a:t> và quy trình </a:t>
            </a:r>
            <a:r>
              <a:rPr lang="vi-VN" b="1"/>
              <a:t>Thanh toán</a:t>
            </a:r>
            <a:r>
              <a:rPr lang="vi-VN"/>
              <a:t> thực tế."</a:t>
            </a:r>
          </a:p>
          <a:p>
            <a:pPr marL="0" lvl="0" indent="0" algn="l" rtl="0">
              <a:spcBef>
                <a:spcPts val="0"/>
              </a:spcBef>
              <a:spcAft>
                <a:spcPts val="0"/>
              </a:spcAft>
              <a:buNone/>
            </a:pPr>
            <a:endParaRPr/>
          </a:p>
        </p:txBody>
      </p:sp>
      <p:sp>
        <p:nvSpPr>
          <p:cNvPr id="132" name="Google Shape;132;p4:notes">
            <a:extLst>
              <a:ext uri="{FF2B5EF4-FFF2-40B4-BE49-F238E27FC236}">
                <a16:creationId xmlns:a16="http://schemas.microsoft.com/office/drawing/2014/main" id="{B9B81CC8-3E45-67D2-7F88-794C65C22D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9678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Về lý do chọn đề tài, xuất phát từ nhu cầu đặt món online ngày càng lớn, em muốn xây dựng một trải nghiệm </a:t>
            </a:r>
            <a:r>
              <a:rPr lang="vi-VN" b="1"/>
              <a:t>Cashless</a:t>
            </a:r>
            <a:r>
              <a:rPr lang="vi-VN"/>
              <a:t> (không tiền mặt) tiện lợi cho người dùng.</a:t>
            </a:r>
          </a:p>
          <a:p>
            <a:r>
              <a:rPr lang="vi-VN"/>
              <a:t>Quan trọng hơn, đây là cơ hội để em áp dụng những kỹ thuật khó nhất của lập trình Android như </a:t>
            </a:r>
            <a:r>
              <a:rPr lang="vi-VN" b="1"/>
              <a:t>Kiến trúc MVVM</a:t>
            </a:r>
            <a:r>
              <a:rPr lang="vi-VN"/>
              <a:t>, xử lý đa luồng </a:t>
            </a:r>
            <a:r>
              <a:rPr lang="vi-VN" b="1"/>
              <a:t>Coroutines</a:t>
            </a:r>
            <a:r>
              <a:rPr lang="vi-VN"/>
              <a:t> và tích hợp </a:t>
            </a:r>
            <a:r>
              <a:rPr lang="vi-VN" b="1"/>
              <a:t>Bản đồ</a:t>
            </a:r>
            <a:r>
              <a:rPr lang="vi-VN"/>
              <a:t> vào một bài toán thực tế."</a:t>
            </a:r>
          </a:p>
          <a:p>
            <a:pPr marL="0" lvl="0" indent="0" algn="l" rtl="0">
              <a:spcBef>
                <a:spcPts val="0"/>
              </a:spcBef>
              <a:spcAft>
                <a:spcPts val="0"/>
              </a:spcAft>
              <a:buNone/>
            </a:pPr>
            <a:endParaRPr/>
          </a:p>
        </p:txBody>
      </p:sp>
      <p:sp>
        <p:nvSpPr>
          <p:cNvPr id="147" name="Google Shape;14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Ứng dụng tập trung giải quyết 3 bài toán cốt lõi:</a:t>
            </a:r>
          </a:p>
          <a:p>
            <a:r>
              <a:rPr lang="vi-VN"/>
              <a:t>Trải nghiệm </a:t>
            </a:r>
            <a:r>
              <a:rPr lang="vi-VN" b="1"/>
              <a:t>Đặt món</a:t>
            </a:r>
            <a:r>
              <a:rPr lang="vi-VN"/>
              <a:t> trực quan.</a:t>
            </a:r>
          </a:p>
          <a:p>
            <a:r>
              <a:rPr lang="vi-VN" b="1"/>
              <a:t>Thanh toán đa kênh</a:t>
            </a:r>
            <a:r>
              <a:rPr lang="vi-VN"/>
              <a:t>, tích hợp ZaloPay và Tiền mặt.</a:t>
            </a:r>
          </a:p>
          <a:p>
            <a:r>
              <a:rPr lang="vi-VN"/>
              <a:t>Tính năng </a:t>
            </a:r>
            <a:r>
              <a:rPr lang="vi-VN" b="1"/>
              <a:t>Tracking</a:t>
            </a:r>
            <a:r>
              <a:rPr lang="vi-VN"/>
              <a:t>, cho phép định vị địa chỉ giao hàng chính xác."</a:t>
            </a:r>
          </a:p>
        </p:txBody>
      </p:sp>
      <p:sp>
        <p:nvSpPr>
          <p:cNvPr id="161" name="Google Shape;16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Về mặt kỹ thuật, điểm sáng lớn nhất là </a:t>
            </a:r>
            <a:r>
              <a:rPr lang="vi-VN" b="1"/>
              <a:t>Module Thanh Toán</a:t>
            </a:r>
            <a:r>
              <a:rPr lang="vi-VN"/>
              <a:t> như sơ đồ Sequence trên màn hình. Em đã xử lý thành công luồng dữ liệu bảo mật giữa 3 bên: </a:t>
            </a:r>
            <a:r>
              <a:rPr lang="vi-VN" b="1"/>
              <a:t>App - Server ZaloPay - và Firebase</a:t>
            </a:r>
            <a:r>
              <a:rPr lang="vi-VN"/>
              <a:t>. Khi người dùng thanh toán xong, hệ thống sử dụng cơ chế lắng nghe sự kiện (Event Listener) để cập nhật trạng thái đơn hàng ngay lập tức mà không cần tải lại trang."</a:t>
            </a:r>
            <a:endParaRPr/>
          </a:p>
        </p:txBody>
      </p:sp>
      <p:sp>
        <p:nvSpPr>
          <p:cNvPr id="180" name="Google Shape;1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Đây là minh chứng thực tế: Bên trái là giao dịch </a:t>
            </a:r>
            <a:r>
              <a:rPr lang="vi-VN" b="1"/>
              <a:t>thanh toán ZaloPay thành công</a:t>
            </a:r>
            <a:r>
              <a:rPr lang="vi-VN"/>
              <a:t> trên môi trường Sandbox. Bên phải là tính năng </a:t>
            </a:r>
            <a:r>
              <a:rPr lang="vi-VN" b="1"/>
              <a:t>định vị bản đồ</a:t>
            </a:r>
            <a:r>
              <a:rPr lang="vi-VN"/>
              <a:t> sử dụng OpenStreetMap. Ứng dụng đã được kiểm thử và chạy ổn định trên các thiết bị Android từ phiên bản 10 trở lên."</a:t>
            </a:r>
            <a:endParaRPr/>
          </a:p>
        </p:txBody>
      </p:sp>
      <p:sp>
        <p:nvSpPr>
          <p:cNvPr id="197" name="Google Shape;19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Trong tương lai, để hoàn thiện hệ sinh thái, em sẽ phát triển thêm App dành cho </a:t>
            </a:r>
            <a:r>
              <a:rPr lang="vi-VN" b="1"/>
              <a:t>Shipper và Admin</a:t>
            </a:r>
            <a:r>
              <a:rPr lang="vi-VN"/>
              <a:t>. Đồng thời tích hợp </a:t>
            </a:r>
            <a:r>
              <a:rPr lang="vi-VN" b="1"/>
              <a:t>AI</a:t>
            </a:r>
            <a:r>
              <a:rPr lang="vi-VN"/>
              <a:t> để gợi ý đồ uống và tính năng </a:t>
            </a:r>
            <a:r>
              <a:rPr lang="vi-VN" b="1"/>
              <a:t>Thông báo đẩy</a:t>
            </a:r>
            <a:r>
              <a:rPr lang="vi-VN"/>
              <a:t> để tăng tương tác với người dùng.</a:t>
            </a:r>
            <a:endParaRPr/>
          </a:p>
        </p:txBody>
      </p:sp>
      <p:sp>
        <p:nvSpPr>
          <p:cNvPr id="212" name="Google Shape;21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Em xin chân thành cảm ơn Thầy đã hướng dẫn và các bạn đã lắng nghe. Em xin hết.</a:t>
            </a:r>
            <a:endParaRPr/>
          </a:p>
        </p:txBody>
      </p:sp>
      <p:sp>
        <p:nvSpPr>
          <p:cNvPr id="225" name="Google Shape;22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9F0F1B1-FB7B-FA32-6CA7-5D557D731745}"/>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p>
        </p:txBody>
      </p:sp>
      <p:sp>
        <p:nvSpPr>
          <p:cNvPr id="3" name="Tiêu đề phụ 2">
            <a:extLst>
              <a:ext uri="{FF2B5EF4-FFF2-40B4-BE49-F238E27FC236}">
                <a16:creationId xmlns:a16="http://schemas.microsoft.com/office/drawing/2014/main" id="{0D0E580D-4618-991E-B091-A2129E55D8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p>
        </p:txBody>
      </p:sp>
      <p:sp>
        <p:nvSpPr>
          <p:cNvPr id="4" name="Chỗ dành sẵn cho Ngày tháng 3">
            <a:extLst>
              <a:ext uri="{FF2B5EF4-FFF2-40B4-BE49-F238E27FC236}">
                <a16:creationId xmlns:a16="http://schemas.microsoft.com/office/drawing/2014/main" id="{97663AEA-BFDA-3671-32BF-F0F4C2C68EA8}"/>
              </a:ext>
            </a:extLst>
          </p:cNvPr>
          <p:cNvSpPr>
            <a:spLocks noGrp="1"/>
          </p:cNvSpPr>
          <p:nvPr>
            <p:ph type="dt" sz="half" idx="10"/>
          </p:nvPr>
        </p:nvSpPr>
        <p:spPr/>
        <p:txBody>
          <a:bodyPr/>
          <a:lstStyle/>
          <a:p>
            <a:fld id="{8FC48DE5-EA60-49C7-B4B8-4296692D59D3}" type="datetimeFigureOut">
              <a:rPr lang="vi-VN" smtClean="0"/>
              <a:t>25/01/2026</a:t>
            </a:fld>
            <a:endParaRPr lang="vi-VN"/>
          </a:p>
        </p:txBody>
      </p:sp>
      <p:sp>
        <p:nvSpPr>
          <p:cNvPr id="5" name="Chỗ dành sẵn cho Chân trang 4">
            <a:extLst>
              <a:ext uri="{FF2B5EF4-FFF2-40B4-BE49-F238E27FC236}">
                <a16:creationId xmlns:a16="http://schemas.microsoft.com/office/drawing/2014/main" id="{38DDD864-F754-6B04-D0D8-7A7C38330085}"/>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54969DC9-1729-B4C6-3325-3BD2240BBDE3}"/>
              </a:ext>
            </a:extLst>
          </p:cNvPr>
          <p:cNvSpPr>
            <a:spLocks noGrp="1"/>
          </p:cNvSpPr>
          <p:nvPr>
            <p:ph type="sldNum" sz="quarter" idx="12"/>
          </p:nvPr>
        </p:nvSpPr>
        <p:spPr/>
        <p:txBody>
          <a:bodyPr/>
          <a:lstStyle/>
          <a:p>
            <a:fld id="{594191C6-0AFB-4B76-93DD-036BBADEA9EB}" type="slidenum">
              <a:rPr lang="vi-VN" smtClean="0"/>
              <a:t>‹#›</a:t>
            </a:fld>
            <a:endParaRPr lang="vi-VN"/>
          </a:p>
        </p:txBody>
      </p:sp>
    </p:spTree>
    <p:extLst>
      <p:ext uri="{BB962C8B-B14F-4D97-AF65-F5344CB8AC3E}">
        <p14:creationId xmlns:p14="http://schemas.microsoft.com/office/powerpoint/2010/main" val="3402772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8588AB6-045F-66B8-7FED-E4A0C7D75240}"/>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78A51DC8-9760-89FB-6D6E-210519ED6902}"/>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E2ED80B9-3C39-4421-11AD-13F42F84E034}"/>
              </a:ext>
            </a:extLst>
          </p:cNvPr>
          <p:cNvSpPr>
            <a:spLocks noGrp="1"/>
          </p:cNvSpPr>
          <p:nvPr>
            <p:ph type="dt" sz="half" idx="10"/>
          </p:nvPr>
        </p:nvSpPr>
        <p:spPr/>
        <p:txBody>
          <a:bodyPr/>
          <a:lstStyle/>
          <a:p>
            <a:fld id="{8FC48DE5-EA60-49C7-B4B8-4296692D59D3}" type="datetimeFigureOut">
              <a:rPr lang="vi-VN" smtClean="0"/>
              <a:t>25/01/2026</a:t>
            </a:fld>
            <a:endParaRPr lang="vi-VN"/>
          </a:p>
        </p:txBody>
      </p:sp>
      <p:sp>
        <p:nvSpPr>
          <p:cNvPr id="5" name="Chỗ dành sẵn cho Chân trang 4">
            <a:extLst>
              <a:ext uri="{FF2B5EF4-FFF2-40B4-BE49-F238E27FC236}">
                <a16:creationId xmlns:a16="http://schemas.microsoft.com/office/drawing/2014/main" id="{60FF16AE-D3A7-488C-7515-FDEA3A439F67}"/>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2A8ADD3A-37D5-900A-04B4-404C5DD86F42}"/>
              </a:ext>
            </a:extLst>
          </p:cNvPr>
          <p:cNvSpPr>
            <a:spLocks noGrp="1"/>
          </p:cNvSpPr>
          <p:nvPr>
            <p:ph type="sldNum" sz="quarter" idx="12"/>
          </p:nvPr>
        </p:nvSpPr>
        <p:spPr/>
        <p:txBody>
          <a:bodyPr/>
          <a:lstStyle/>
          <a:p>
            <a:fld id="{594191C6-0AFB-4B76-93DD-036BBADEA9EB}" type="slidenum">
              <a:rPr lang="vi-VN" smtClean="0"/>
              <a:t>‹#›</a:t>
            </a:fld>
            <a:endParaRPr lang="vi-VN"/>
          </a:p>
        </p:txBody>
      </p:sp>
    </p:spTree>
    <p:extLst>
      <p:ext uri="{BB962C8B-B14F-4D97-AF65-F5344CB8AC3E}">
        <p14:creationId xmlns:p14="http://schemas.microsoft.com/office/powerpoint/2010/main" val="1140026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74E60FC-B8D3-0888-6FF3-8BB268561100}"/>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p>
        </p:txBody>
      </p:sp>
      <p:sp>
        <p:nvSpPr>
          <p:cNvPr id="3" name="Chỗ dành sẵn cho Văn bản 2">
            <a:extLst>
              <a:ext uri="{FF2B5EF4-FFF2-40B4-BE49-F238E27FC236}">
                <a16:creationId xmlns:a16="http://schemas.microsoft.com/office/drawing/2014/main" id="{AAC4A6F1-836A-2133-9E96-61899D9F72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42E078CE-BF36-F826-A30A-D574052BA7F0}"/>
              </a:ext>
            </a:extLst>
          </p:cNvPr>
          <p:cNvSpPr>
            <a:spLocks noGrp="1"/>
          </p:cNvSpPr>
          <p:nvPr>
            <p:ph type="dt" sz="half" idx="10"/>
          </p:nvPr>
        </p:nvSpPr>
        <p:spPr/>
        <p:txBody>
          <a:bodyPr/>
          <a:lstStyle/>
          <a:p>
            <a:fld id="{8FC48DE5-EA60-49C7-B4B8-4296692D59D3}" type="datetimeFigureOut">
              <a:rPr lang="vi-VN" smtClean="0"/>
              <a:t>25/01/2026</a:t>
            </a:fld>
            <a:endParaRPr lang="vi-VN"/>
          </a:p>
        </p:txBody>
      </p:sp>
      <p:sp>
        <p:nvSpPr>
          <p:cNvPr id="5" name="Chỗ dành sẵn cho Chân trang 4">
            <a:extLst>
              <a:ext uri="{FF2B5EF4-FFF2-40B4-BE49-F238E27FC236}">
                <a16:creationId xmlns:a16="http://schemas.microsoft.com/office/drawing/2014/main" id="{C1E8DC81-60F8-3D3E-07F4-A51D96A03370}"/>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CE29415E-A41C-2E8B-17D4-B5C596D317BB}"/>
              </a:ext>
            </a:extLst>
          </p:cNvPr>
          <p:cNvSpPr>
            <a:spLocks noGrp="1"/>
          </p:cNvSpPr>
          <p:nvPr>
            <p:ph type="sldNum" sz="quarter" idx="12"/>
          </p:nvPr>
        </p:nvSpPr>
        <p:spPr/>
        <p:txBody>
          <a:bodyPr/>
          <a:lstStyle/>
          <a:p>
            <a:fld id="{594191C6-0AFB-4B76-93DD-036BBADEA9EB}" type="slidenum">
              <a:rPr lang="vi-VN" smtClean="0"/>
              <a:t>‹#›</a:t>
            </a:fld>
            <a:endParaRPr lang="vi-VN"/>
          </a:p>
        </p:txBody>
      </p:sp>
    </p:spTree>
    <p:extLst>
      <p:ext uri="{BB962C8B-B14F-4D97-AF65-F5344CB8AC3E}">
        <p14:creationId xmlns:p14="http://schemas.microsoft.com/office/powerpoint/2010/main" val="836486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B5ECB4E-F2AA-51B2-2B4C-7DEECF9281BE}"/>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A1AEC102-2B1A-88FB-DE9D-C1FEDA743872}"/>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ội dung 3">
            <a:extLst>
              <a:ext uri="{FF2B5EF4-FFF2-40B4-BE49-F238E27FC236}">
                <a16:creationId xmlns:a16="http://schemas.microsoft.com/office/drawing/2014/main" id="{3EF71BBD-CFD9-0363-926D-B6D830709ED1}"/>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Ngày tháng 4">
            <a:extLst>
              <a:ext uri="{FF2B5EF4-FFF2-40B4-BE49-F238E27FC236}">
                <a16:creationId xmlns:a16="http://schemas.microsoft.com/office/drawing/2014/main" id="{F0C97361-A5E1-4507-D779-3A7C44BE8080}"/>
              </a:ext>
            </a:extLst>
          </p:cNvPr>
          <p:cNvSpPr>
            <a:spLocks noGrp="1"/>
          </p:cNvSpPr>
          <p:nvPr>
            <p:ph type="dt" sz="half" idx="10"/>
          </p:nvPr>
        </p:nvSpPr>
        <p:spPr/>
        <p:txBody>
          <a:bodyPr/>
          <a:lstStyle/>
          <a:p>
            <a:fld id="{8FC48DE5-EA60-49C7-B4B8-4296692D59D3}" type="datetimeFigureOut">
              <a:rPr lang="vi-VN" smtClean="0"/>
              <a:t>25/01/2026</a:t>
            </a:fld>
            <a:endParaRPr lang="vi-VN"/>
          </a:p>
        </p:txBody>
      </p:sp>
      <p:sp>
        <p:nvSpPr>
          <p:cNvPr id="6" name="Chỗ dành sẵn cho Chân trang 5">
            <a:extLst>
              <a:ext uri="{FF2B5EF4-FFF2-40B4-BE49-F238E27FC236}">
                <a16:creationId xmlns:a16="http://schemas.microsoft.com/office/drawing/2014/main" id="{3194DEED-1CD6-9DFF-BD02-7F5126FCA8D4}"/>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07830B1F-BC32-F750-41F2-C9A87F9F500C}"/>
              </a:ext>
            </a:extLst>
          </p:cNvPr>
          <p:cNvSpPr>
            <a:spLocks noGrp="1"/>
          </p:cNvSpPr>
          <p:nvPr>
            <p:ph type="sldNum" sz="quarter" idx="12"/>
          </p:nvPr>
        </p:nvSpPr>
        <p:spPr/>
        <p:txBody>
          <a:bodyPr/>
          <a:lstStyle/>
          <a:p>
            <a:fld id="{594191C6-0AFB-4B76-93DD-036BBADEA9EB}" type="slidenum">
              <a:rPr lang="vi-VN" smtClean="0"/>
              <a:t>‹#›</a:t>
            </a:fld>
            <a:endParaRPr lang="vi-VN"/>
          </a:p>
        </p:txBody>
      </p:sp>
    </p:spTree>
    <p:extLst>
      <p:ext uri="{BB962C8B-B14F-4D97-AF65-F5344CB8AC3E}">
        <p14:creationId xmlns:p14="http://schemas.microsoft.com/office/powerpoint/2010/main" val="503661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9929876-2C5C-35E3-886A-360B88A4806C}"/>
              </a:ext>
            </a:extLst>
          </p:cNvPr>
          <p:cNvSpPr>
            <a:spLocks noGrp="1"/>
          </p:cNvSpPr>
          <p:nvPr>
            <p:ph type="title"/>
          </p:nvPr>
        </p:nvSpPr>
        <p:spPr>
          <a:xfrm>
            <a:off x="839788" y="365125"/>
            <a:ext cx="10515600" cy="1325563"/>
          </a:xfrm>
        </p:spPr>
        <p:txBody>
          <a:bodyPr/>
          <a:lstStyle/>
          <a:p>
            <a:r>
              <a:rPr lang="vi-VN"/>
              <a:t>Bấm để sửa kiểu tiêu đề Bản cái</a:t>
            </a:r>
          </a:p>
        </p:txBody>
      </p:sp>
      <p:sp>
        <p:nvSpPr>
          <p:cNvPr id="3" name="Chỗ dành sẵn cho Văn bản 2">
            <a:extLst>
              <a:ext uri="{FF2B5EF4-FFF2-40B4-BE49-F238E27FC236}">
                <a16:creationId xmlns:a16="http://schemas.microsoft.com/office/drawing/2014/main" id="{8787F653-8854-1B1E-8E07-B05AE94904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6214418D-6D67-10F4-BF8E-BFC194F970C3}"/>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Văn bản 4">
            <a:extLst>
              <a:ext uri="{FF2B5EF4-FFF2-40B4-BE49-F238E27FC236}">
                <a16:creationId xmlns:a16="http://schemas.microsoft.com/office/drawing/2014/main" id="{144DBE09-8484-0095-1C6C-D87885DBB7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5971462B-15F3-7D15-3A95-EC27658810D6}"/>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7" name="Chỗ dành sẵn cho Ngày tháng 6">
            <a:extLst>
              <a:ext uri="{FF2B5EF4-FFF2-40B4-BE49-F238E27FC236}">
                <a16:creationId xmlns:a16="http://schemas.microsoft.com/office/drawing/2014/main" id="{74EF0123-7F3D-4E5C-E77C-0354079588C5}"/>
              </a:ext>
            </a:extLst>
          </p:cNvPr>
          <p:cNvSpPr>
            <a:spLocks noGrp="1"/>
          </p:cNvSpPr>
          <p:nvPr>
            <p:ph type="dt" sz="half" idx="10"/>
          </p:nvPr>
        </p:nvSpPr>
        <p:spPr/>
        <p:txBody>
          <a:bodyPr/>
          <a:lstStyle/>
          <a:p>
            <a:fld id="{8FC48DE5-EA60-49C7-B4B8-4296692D59D3}" type="datetimeFigureOut">
              <a:rPr lang="vi-VN" smtClean="0"/>
              <a:t>25/01/2026</a:t>
            </a:fld>
            <a:endParaRPr lang="vi-VN"/>
          </a:p>
        </p:txBody>
      </p:sp>
      <p:sp>
        <p:nvSpPr>
          <p:cNvPr id="8" name="Chỗ dành sẵn cho Chân trang 7">
            <a:extLst>
              <a:ext uri="{FF2B5EF4-FFF2-40B4-BE49-F238E27FC236}">
                <a16:creationId xmlns:a16="http://schemas.microsoft.com/office/drawing/2014/main" id="{1B8F4648-5BBF-B3BE-CDCC-F22D1E1CE1A2}"/>
              </a:ext>
            </a:extLst>
          </p:cNvPr>
          <p:cNvSpPr>
            <a:spLocks noGrp="1"/>
          </p:cNvSpPr>
          <p:nvPr>
            <p:ph type="ftr" sz="quarter" idx="11"/>
          </p:nvPr>
        </p:nvSpPr>
        <p:spPr/>
        <p:txBody>
          <a:bodyPr/>
          <a:lstStyle/>
          <a:p>
            <a:endParaRPr lang="vi-VN"/>
          </a:p>
        </p:txBody>
      </p:sp>
      <p:sp>
        <p:nvSpPr>
          <p:cNvPr id="9" name="Chỗ dành sẵn cho Số hiệu Bản chiếu 8">
            <a:extLst>
              <a:ext uri="{FF2B5EF4-FFF2-40B4-BE49-F238E27FC236}">
                <a16:creationId xmlns:a16="http://schemas.microsoft.com/office/drawing/2014/main" id="{6CD359C7-65F5-DEA9-54CA-4DF32752E89E}"/>
              </a:ext>
            </a:extLst>
          </p:cNvPr>
          <p:cNvSpPr>
            <a:spLocks noGrp="1"/>
          </p:cNvSpPr>
          <p:nvPr>
            <p:ph type="sldNum" sz="quarter" idx="12"/>
          </p:nvPr>
        </p:nvSpPr>
        <p:spPr/>
        <p:txBody>
          <a:bodyPr/>
          <a:lstStyle/>
          <a:p>
            <a:fld id="{594191C6-0AFB-4B76-93DD-036BBADEA9EB}" type="slidenum">
              <a:rPr lang="vi-VN" smtClean="0"/>
              <a:t>‹#›</a:t>
            </a:fld>
            <a:endParaRPr lang="vi-VN"/>
          </a:p>
        </p:txBody>
      </p:sp>
    </p:spTree>
    <p:extLst>
      <p:ext uri="{BB962C8B-B14F-4D97-AF65-F5344CB8AC3E}">
        <p14:creationId xmlns:p14="http://schemas.microsoft.com/office/powerpoint/2010/main" val="4224585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E33AAE5-3FEB-7E35-B5BC-29E1A3CC0D5B}"/>
              </a:ext>
            </a:extLst>
          </p:cNvPr>
          <p:cNvSpPr>
            <a:spLocks noGrp="1"/>
          </p:cNvSpPr>
          <p:nvPr>
            <p:ph type="title"/>
          </p:nvPr>
        </p:nvSpPr>
        <p:spPr/>
        <p:txBody>
          <a:bodyPr/>
          <a:lstStyle/>
          <a:p>
            <a:r>
              <a:rPr lang="vi-VN"/>
              <a:t>Bấm để sửa kiểu tiêu đề Bản cái</a:t>
            </a:r>
          </a:p>
        </p:txBody>
      </p:sp>
      <p:sp>
        <p:nvSpPr>
          <p:cNvPr id="3" name="Chỗ dành sẵn cho Ngày tháng 2">
            <a:extLst>
              <a:ext uri="{FF2B5EF4-FFF2-40B4-BE49-F238E27FC236}">
                <a16:creationId xmlns:a16="http://schemas.microsoft.com/office/drawing/2014/main" id="{C5854DC6-A008-000F-9BF9-7CF294F8A830}"/>
              </a:ext>
            </a:extLst>
          </p:cNvPr>
          <p:cNvSpPr>
            <a:spLocks noGrp="1"/>
          </p:cNvSpPr>
          <p:nvPr>
            <p:ph type="dt" sz="half" idx="10"/>
          </p:nvPr>
        </p:nvSpPr>
        <p:spPr/>
        <p:txBody>
          <a:bodyPr/>
          <a:lstStyle/>
          <a:p>
            <a:fld id="{8FC48DE5-EA60-49C7-B4B8-4296692D59D3}" type="datetimeFigureOut">
              <a:rPr lang="vi-VN" smtClean="0"/>
              <a:t>25/01/2026</a:t>
            </a:fld>
            <a:endParaRPr lang="vi-VN"/>
          </a:p>
        </p:txBody>
      </p:sp>
      <p:sp>
        <p:nvSpPr>
          <p:cNvPr id="4" name="Chỗ dành sẵn cho Chân trang 3">
            <a:extLst>
              <a:ext uri="{FF2B5EF4-FFF2-40B4-BE49-F238E27FC236}">
                <a16:creationId xmlns:a16="http://schemas.microsoft.com/office/drawing/2014/main" id="{5FF76EB1-8B4E-672D-E12C-EC289854E574}"/>
              </a:ext>
            </a:extLst>
          </p:cNvPr>
          <p:cNvSpPr>
            <a:spLocks noGrp="1"/>
          </p:cNvSpPr>
          <p:nvPr>
            <p:ph type="ftr" sz="quarter" idx="11"/>
          </p:nvPr>
        </p:nvSpPr>
        <p:spPr/>
        <p:txBody>
          <a:bodyPr/>
          <a:lstStyle/>
          <a:p>
            <a:endParaRPr lang="vi-VN"/>
          </a:p>
        </p:txBody>
      </p:sp>
      <p:sp>
        <p:nvSpPr>
          <p:cNvPr id="5" name="Chỗ dành sẵn cho Số hiệu Bản chiếu 4">
            <a:extLst>
              <a:ext uri="{FF2B5EF4-FFF2-40B4-BE49-F238E27FC236}">
                <a16:creationId xmlns:a16="http://schemas.microsoft.com/office/drawing/2014/main" id="{56C2BD9F-1C39-4100-FEF0-939489DF4D73}"/>
              </a:ext>
            </a:extLst>
          </p:cNvPr>
          <p:cNvSpPr>
            <a:spLocks noGrp="1"/>
          </p:cNvSpPr>
          <p:nvPr>
            <p:ph type="sldNum" sz="quarter" idx="12"/>
          </p:nvPr>
        </p:nvSpPr>
        <p:spPr/>
        <p:txBody>
          <a:bodyPr/>
          <a:lstStyle/>
          <a:p>
            <a:fld id="{594191C6-0AFB-4B76-93DD-036BBADEA9EB}" type="slidenum">
              <a:rPr lang="vi-VN" smtClean="0"/>
              <a:t>‹#›</a:t>
            </a:fld>
            <a:endParaRPr lang="vi-VN"/>
          </a:p>
        </p:txBody>
      </p:sp>
    </p:spTree>
    <p:extLst>
      <p:ext uri="{BB962C8B-B14F-4D97-AF65-F5344CB8AC3E}">
        <p14:creationId xmlns:p14="http://schemas.microsoft.com/office/powerpoint/2010/main" val="1574506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E3360B7D-3A0A-65A7-6B9D-B21ECECFAC68}"/>
              </a:ext>
            </a:extLst>
          </p:cNvPr>
          <p:cNvSpPr>
            <a:spLocks noGrp="1"/>
          </p:cNvSpPr>
          <p:nvPr>
            <p:ph type="dt" sz="half" idx="10"/>
          </p:nvPr>
        </p:nvSpPr>
        <p:spPr/>
        <p:txBody>
          <a:bodyPr/>
          <a:lstStyle/>
          <a:p>
            <a:fld id="{8FC48DE5-EA60-49C7-B4B8-4296692D59D3}" type="datetimeFigureOut">
              <a:rPr lang="vi-VN" smtClean="0"/>
              <a:t>25/01/2026</a:t>
            </a:fld>
            <a:endParaRPr lang="vi-VN"/>
          </a:p>
        </p:txBody>
      </p:sp>
      <p:sp>
        <p:nvSpPr>
          <p:cNvPr id="3" name="Chỗ dành sẵn cho Chân trang 2">
            <a:extLst>
              <a:ext uri="{FF2B5EF4-FFF2-40B4-BE49-F238E27FC236}">
                <a16:creationId xmlns:a16="http://schemas.microsoft.com/office/drawing/2014/main" id="{9D53389E-2FDC-9C4D-F9BB-77CB59C3BE2A}"/>
              </a:ext>
            </a:extLst>
          </p:cNvPr>
          <p:cNvSpPr>
            <a:spLocks noGrp="1"/>
          </p:cNvSpPr>
          <p:nvPr>
            <p:ph type="ftr" sz="quarter" idx="11"/>
          </p:nvPr>
        </p:nvSpPr>
        <p:spPr/>
        <p:txBody>
          <a:bodyPr/>
          <a:lstStyle/>
          <a:p>
            <a:endParaRPr lang="vi-VN"/>
          </a:p>
        </p:txBody>
      </p:sp>
      <p:sp>
        <p:nvSpPr>
          <p:cNvPr id="4" name="Chỗ dành sẵn cho Số hiệu Bản chiếu 3">
            <a:extLst>
              <a:ext uri="{FF2B5EF4-FFF2-40B4-BE49-F238E27FC236}">
                <a16:creationId xmlns:a16="http://schemas.microsoft.com/office/drawing/2014/main" id="{79A91B48-584E-035C-CC69-4CF7C38826FB}"/>
              </a:ext>
            </a:extLst>
          </p:cNvPr>
          <p:cNvSpPr>
            <a:spLocks noGrp="1"/>
          </p:cNvSpPr>
          <p:nvPr>
            <p:ph type="sldNum" sz="quarter" idx="12"/>
          </p:nvPr>
        </p:nvSpPr>
        <p:spPr/>
        <p:txBody>
          <a:bodyPr/>
          <a:lstStyle/>
          <a:p>
            <a:fld id="{594191C6-0AFB-4B76-93DD-036BBADEA9EB}" type="slidenum">
              <a:rPr lang="vi-VN" smtClean="0"/>
              <a:t>‹#›</a:t>
            </a:fld>
            <a:endParaRPr lang="vi-VN"/>
          </a:p>
        </p:txBody>
      </p:sp>
    </p:spTree>
    <p:extLst>
      <p:ext uri="{BB962C8B-B14F-4D97-AF65-F5344CB8AC3E}">
        <p14:creationId xmlns:p14="http://schemas.microsoft.com/office/powerpoint/2010/main" val="1734439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25E8541-5F4B-FA45-F1BA-965C2384905B}"/>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Nội dung 2">
            <a:extLst>
              <a:ext uri="{FF2B5EF4-FFF2-40B4-BE49-F238E27FC236}">
                <a16:creationId xmlns:a16="http://schemas.microsoft.com/office/drawing/2014/main" id="{89F680CA-77D8-75A2-C6ED-2133892E92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Văn bản 3">
            <a:extLst>
              <a:ext uri="{FF2B5EF4-FFF2-40B4-BE49-F238E27FC236}">
                <a16:creationId xmlns:a16="http://schemas.microsoft.com/office/drawing/2014/main" id="{E1F9A02A-35FE-9460-274F-E3A7654DB7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1AB175F9-5496-3050-7699-FAC5219A96C2}"/>
              </a:ext>
            </a:extLst>
          </p:cNvPr>
          <p:cNvSpPr>
            <a:spLocks noGrp="1"/>
          </p:cNvSpPr>
          <p:nvPr>
            <p:ph type="dt" sz="half" idx="10"/>
          </p:nvPr>
        </p:nvSpPr>
        <p:spPr/>
        <p:txBody>
          <a:bodyPr/>
          <a:lstStyle/>
          <a:p>
            <a:fld id="{8FC48DE5-EA60-49C7-B4B8-4296692D59D3}" type="datetimeFigureOut">
              <a:rPr lang="vi-VN" smtClean="0"/>
              <a:t>25/01/2026</a:t>
            </a:fld>
            <a:endParaRPr lang="vi-VN"/>
          </a:p>
        </p:txBody>
      </p:sp>
      <p:sp>
        <p:nvSpPr>
          <p:cNvPr id="6" name="Chỗ dành sẵn cho Chân trang 5">
            <a:extLst>
              <a:ext uri="{FF2B5EF4-FFF2-40B4-BE49-F238E27FC236}">
                <a16:creationId xmlns:a16="http://schemas.microsoft.com/office/drawing/2014/main" id="{7D4519A7-3814-E92E-2695-3EDBF717A6E0}"/>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3717637D-BEA6-3A6E-446D-BB9931CD1B68}"/>
              </a:ext>
            </a:extLst>
          </p:cNvPr>
          <p:cNvSpPr>
            <a:spLocks noGrp="1"/>
          </p:cNvSpPr>
          <p:nvPr>
            <p:ph type="sldNum" sz="quarter" idx="12"/>
          </p:nvPr>
        </p:nvSpPr>
        <p:spPr/>
        <p:txBody>
          <a:bodyPr/>
          <a:lstStyle/>
          <a:p>
            <a:fld id="{594191C6-0AFB-4B76-93DD-036BBADEA9EB}" type="slidenum">
              <a:rPr lang="vi-VN" smtClean="0"/>
              <a:t>‹#›</a:t>
            </a:fld>
            <a:endParaRPr lang="vi-VN"/>
          </a:p>
        </p:txBody>
      </p:sp>
    </p:spTree>
    <p:extLst>
      <p:ext uri="{BB962C8B-B14F-4D97-AF65-F5344CB8AC3E}">
        <p14:creationId xmlns:p14="http://schemas.microsoft.com/office/powerpoint/2010/main" val="3387786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67B180A-0B3D-FDCB-978B-73B48C387754}"/>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Hình ảnh 2">
            <a:extLst>
              <a:ext uri="{FF2B5EF4-FFF2-40B4-BE49-F238E27FC236}">
                <a16:creationId xmlns:a16="http://schemas.microsoft.com/office/drawing/2014/main" id="{E1021A7B-8A21-0E01-B4F3-4BBE21B5AF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Chỗ dành sẵn cho Văn bản 3">
            <a:extLst>
              <a:ext uri="{FF2B5EF4-FFF2-40B4-BE49-F238E27FC236}">
                <a16:creationId xmlns:a16="http://schemas.microsoft.com/office/drawing/2014/main" id="{E1228A6A-8452-AEC0-A130-0589334C3D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5003E414-0494-767C-6148-F3756DBA0E07}"/>
              </a:ext>
            </a:extLst>
          </p:cNvPr>
          <p:cNvSpPr>
            <a:spLocks noGrp="1"/>
          </p:cNvSpPr>
          <p:nvPr>
            <p:ph type="dt" sz="half" idx="10"/>
          </p:nvPr>
        </p:nvSpPr>
        <p:spPr/>
        <p:txBody>
          <a:bodyPr/>
          <a:lstStyle/>
          <a:p>
            <a:fld id="{8FC48DE5-EA60-49C7-B4B8-4296692D59D3}" type="datetimeFigureOut">
              <a:rPr lang="vi-VN" smtClean="0"/>
              <a:t>25/01/2026</a:t>
            </a:fld>
            <a:endParaRPr lang="vi-VN"/>
          </a:p>
        </p:txBody>
      </p:sp>
      <p:sp>
        <p:nvSpPr>
          <p:cNvPr id="6" name="Chỗ dành sẵn cho Chân trang 5">
            <a:extLst>
              <a:ext uri="{FF2B5EF4-FFF2-40B4-BE49-F238E27FC236}">
                <a16:creationId xmlns:a16="http://schemas.microsoft.com/office/drawing/2014/main" id="{22AC7027-27C4-CC7E-E45B-FF107044407B}"/>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EC0E4A2B-DF49-13E7-0F55-909AF8670229}"/>
              </a:ext>
            </a:extLst>
          </p:cNvPr>
          <p:cNvSpPr>
            <a:spLocks noGrp="1"/>
          </p:cNvSpPr>
          <p:nvPr>
            <p:ph type="sldNum" sz="quarter" idx="12"/>
          </p:nvPr>
        </p:nvSpPr>
        <p:spPr/>
        <p:txBody>
          <a:bodyPr/>
          <a:lstStyle/>
          <a:p>
            <a:fld id="{594191C6-0AFB-4B76-93DD-036BBADEA9EB}" type="slidenum">
              <a:rPr lang="vi-VN" smtClean="0"/>
              <a:t>‹#›</a:t>
            </a:fld>
            <a:endParaRPr lang="vi-VN"/>
          </a:p>
        </p:txBody>
      </p:sp>
    </p:spTree>
    <p:extLst>
      <p:ext uri="{BB962C8B-B14F-4D97-AF65-F5344CB8AC3E}">
        <p14:creationId xmlns:p14="http://schemas.microsoft.com/office/powerpoint/2010/main" val="3097742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471BD17-FFF3-6E51-DB1C-C1B234B94A3D}"/>
              </a:ext>
            </a:extLst>
          </p:cNvPr>
          <p:cNvSpPr>
            <a:spLocks noGrp="1"/>
          </p:cNvSpPr>
          <p:nvPr>
            <p:ph type="title"/>
          </p:nvPr>
        </p:nvSpPr>
        <p:spPr/>
        <p:txBody>
          <a:bodyPr/>
          <a:lstStyle/>
          <a:p>
            <a:r>
              <a:rPr lang="vi-VN"/>
              <a:t>Bấm để sửa kiểu tiêu đề Bản cái</a:t>
            </a:r>
          </a:p>
        </p:txBody>
      </p:sp>
      <p:sp>
        <p:nvSpPr>
          <p:cNvPr id="3" name="Chỗ dành sẵn cho Văn bản Dọc 2">
            <a:extLst>
              <a:ext uri="{FF2B5EF4-FFF2-40B4-BE49-F238E27FC236}">
                <a16:creationId xmlns:a16="http://schemas.microsoft.com/office/drawing/2014/main" id="{0C37F14E-11C6-3D70-A9FD-9B25D6E7C805}"/>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3319F71F-4878-5F64-9C94-2A6BB2BBE5AB}"/>
              </a:ext>
            </a:extLst>
          </p:cNvPr>
          <p:cNvSpPr>
            <a:spLocks noGrp="1"/>
          </p:cNvSpPr>
          <p:nvPr>
            <p:ph type="dt" sz="half" idx="10"/>
          </p:nvPr>
        </p:nvSpPr>
        <p:spPr/>
        <p:txBody>
          <a:bodyPr/>
          <a:lstStyle/>
          <a:p>
            <a:fld id="{8FC48DE5-EA60-49C7-B4B8-4296692D59D3}" type="datetimeFigureOut">
              <a:rPr lang="vi-VN" smtClean="0"/>
              <a:t>25/01/2026</a:t>
            </a:fld>
            <a:endParaRPr lang="vi-VN"/>
          </a:p>
        </p:txBody>
      </p:sp>
      <p:sp>
        <p:nvSpPr>
          <p:cNvPr id="5" name="Chỗ dành sẵn cho Chân trang 4">
            <a:extLst>
              <a:ext uri="{FF2B5EF4-FFF2-40B4-BE49-F238E27FC236}">
                <a16:creationId xmlns:a16="http://schemas.microsoft.com/office/drawing/2014/main" id="{7FF28B54-A9ED-BF75-9A5F-706A0B4DB517}"/>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A1388081-98C1-122E-7422-184C224F0EEE}"/>
              </a:ext>
            </a:extLst>
          </p:cNvPr>
          <p:cNvSpPr>
            <a:spLocks noGrp="1"/>
          </p:cNvSpPr>
          <p:nvPr>
            <p:ph type="sldNum" sz="quarter" idx="12"/>
          </p:nvPr>
        </p:nvSpPr>
        <p:spPr/>
        <p:txBody>
          <a:bodyPr/>
          <a:lstStyle/>
          <a:p>
            <a:fld id="{594191C6-0AFB-4B76-93DD-036BBADEA9EB}" type="slidenum">
              <a:rPr lang="vi-VN" smtClean="0"/>
              <a:t>‹#›</a:t>
            </a:fld>
            <a:endParaRPr lang="vi-VN"/>
          </a:p>
        </p:txBody>
      </p:sp>
    </p:spTree>
    <p:extLst>
      <p:ext uri="{BB962C8B-B14F-4D97-AF65-F5344CB8AC3E}">
        <p14:creationId xmlns:p14="http://schemas.microsoft.com/office/powerpoint/2010/main" val="1160296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35E5DF32-C8C4-B417-1DE6-ADADA8DC6EB2}"/>
              </a:ext>
            </a:extLst>
          </p:cNvPr>
          <p:cNvSpPr>
            <a:spLocks noGrp="1"/>
          </p:cNvSpPr>
          <p:nvPr>
            <p:ph type="title" orient="vert"/>
          </p:nvPr>
        </p:nvSpPr>
        <p:spPr>
          <a:xfrm>
            <a:off x="8724900" y="365125"/>
            <a:ext cx="2628900" cy="5811838"/>
          </a:xfrm>
        </p:spPr>
        <p:txBody>
          <a:bodyPr vert="eaVert"/>
          <a:lstStyle/>
          <a:p>
            <a:r>
              <a:rPr lang="vi-VN"/>
              <a:t>Bấm để sửa kiểu tiêu đề Bản cái</a:t>
            </a:r>
          </a:p>
        </p:txBody>
      </p:sp>
      <p:sp>
        <p:nvSpPr>
          <p:cNvPr id="3" name="Chỗ dành sẵn cho Văn bản Dọc 2">
            <a:extLst>
              <a:ext uri="{FF2B5EF4-FFF2-40B4-BE49-F238E27FC236}">
                <a16:creationId xmlns:a16="http://schemas.microsoft.com/office/drawing/2014/main" id="{A8A0F036-A7D8-27DD-A69B-0555838998DE}"/>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DC8CB3ED-7789-FD95-E975-939A164908E6}"/>
              </a:ext>
            </a:extLst>
          </p:cNvPr>
          <p:cNvSpPr>
            <a:spLocks noGrp="1"/>
          </p:cNvSpPr>
          <p:nvPr>
            <p:ph type="dt" sz="half" idx="10"/>
          </p:nvPr>
        </p:nvSpPr>
        <p:spPr/>
        <p:txBody>
          <a:bodyPr/>
          <a:lstStyle/>
          <a:p>
            <a:fld id="{8FC48DE5-EA60-49C7-B4B8-4296692D59D3}" type="datetimeFigureOut">
              <a:rPr lang="vi-VN" smtClean="0"/>
              <a:t>25/01/2026</a:t>
            </a:fld>
            <a:endParaRPr lang="vi-VN"/>
          </a:p>
        </p:txBody>
      </p:sp>
      <p:sp>
        <p:nvSpPr>
          <p:cNvPr id="5" name="Chỗ dành sẵn cho Chân trang 4">
            <a:extLst>
              <a:ext uri="{FF2B5EF4-FFF2-40B4-BE49-F238E27FC236}">
                <a16:creationId xmlns:a16="http://schemas.microsoft.com/office/drawing/2014/main" id="{1ADBCFC9-69A4-2C6D-1088-AB916681905D}"/>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029DDECA-9679-DE7B-B507-D7274A593428}"/>
              </a:ext>
            </a:extLst>
          </p:cNvPr>
          <p:cNvSpPr>
            <a:spLocks noGrp="1"/>
          </p:cNvSpPr>
          <p:nvPr>
            <p:ph type="sldNum" sz="quarter" idx="12"/>
          </p:nvPr>
        </p:nvSpPr>
        <p:spPr/>
        <p:txBody>
          <a:bodyPr/>
          <a:lstStyle/>
          <a:p>
            <a:fld id="{594191C6-0AFB-4B76-93DD-036BBADEA9EB}" type="slidenum">
              <a:rPr lang="vi-VN" smtClean="0"/>
              <a:t>‹#›</a:t>
            </a:fld>
            <a:endParaRPr lang="vi-VN"/>
          </a:p>
        </p:txBody>
      </p:sp>
    </p:spTree>
    <p:extLst>
      <p:ext uri="{BB962C8B-B14F-4D97-AF65-F5344CB8AC3E}">
        <p14:creationId xmlns:p14="http://schemas.microsoft.com/office/powerpoint/2010/main" val="884047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906D1339-EBB3-4625-B274-BB73EC88B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p>
        </p:txBody>
      </p:sp>
      <p:sp>
        <p:nvSpPr>
          <p:cNvPr id="3" name="Chỗ dành sẵn cho Văn bản 2">
            <a:extLst>
              <a:ext uri="{FF2B5EF4-FFF2-40B4-BE49-F238E27FC236}">
                <a16:creationId xmlns:a16="http://schemas.microsoft.com/office/drawing/2014/main" id="{35C5D620-A3BF-6058-FE21-A1957E54CC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280859C1-6640-30CA-3CBB-1DE02B02CF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C48DE5-EA60-49C7-B4B8-4296692D59D3}" type="datetimeFigureOut">
              <a:rPr lang="vi-VN" smtClean="0"/>
              <a:t>25/01/2026</a:t>
            </a:fld>
            <a:endParaRPr lang="vi-VN"/>
          </a:p>
        </p:txBody>
      </p:sp>
      <p:sp>
        <p:nvSpPr>
          <p:cNvPr id="5" name="Chỗ dành sẵn cho Chân trang 4">
            <a:extLst>
              <a:ext uri="{FF2B5EF4-FFF2-40B4-BE49-F238E27FC236}">
                <a16:creationId xmlns:a16="http://schemas.microsoft.com/office/drawing/2014/main" id="{ECBA472E-D3DF-FBC4-E32F-9F40B8B323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Chỗ dành sẵn cho Số hiệu Bản chiếu 5">
            <a:extLst>
              <a:ext uri="{FF2B5EF4-FFF2-40B4-BE49-F238E27FC236}">
                <a16:creationId xmlns:a16="http://schemas.microsoft.com/office/drawing/2014/main" id="{5B8CCA72-6AE6-8841-4ABF-8D1C09A83D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4191C6-0AFB-4B76-93DD-036BBADEA9EB}" type="slidenum">
              <a:rPr lang="vi-VN" smtClean="0"/>
              <a:t>‹#›</a:t>
            </a:fld>
            <a:endParaRPr lang="vi-VN"/>
          </a:p>
        </p:txBody>
      </p:sp>
    </p:spTree>
    <p:extLst>
      <p:ext uri="{BB962C8B-B14F-4D97-AF65-F5344CB8AC3E}">
        <p14:creationId xmlns:p14="http://schemas.microsoft.com/office/powerpoint/2010/main" val="1737126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6.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6.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6.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6.png"/><Relationship Id="rId7"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6.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0">
            <a:extLst>
              <a:ext uri="{FF2B5EF4-FFF2-40B4-BE49-F238E27FC236}">
                <a16:creationId xmlns:a16="http://schemas.microsoft.com/office/drawing/2014/main" id="{4A2009D2-BC7A-69B6-25A7-690C20EAAB4A}"/>
              </a:ext>
            </a:extLst>
          </p:cNvPr>
          <p:cNvSpPr>
            <a:spLocks noGrp="1" noRot="1" noMove="1" noResize="1" noEditPoints="1" noAdjustHandles="1" noChangeArrowheads="1" noChangeShapeType="1"/>
          </p:cNvSpPr>
          <p:nvPr/>
        </p:nvSpPr>
        <p:spPr>
          <a:xfrm>
            <a:off x="0" y="0"/>
            <a:ext cx="12192000" cy="6858000"/>
          </a:xfrm>
          <a:prstGeom prst="rect">
            <a:avLst/>
          </a:prstGeom>
          <a:solidFill>
            <a:srgbClr val="FFF2D5"/>
          </a:solidFill>
          <a:scene3d>
            <a:camera prst="perspectiveFron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26" name="1" descr="Ảnh có chứa văn bản, ảnh chụp màn hình, Phông chữ&#10;&#10;Nội dung do AI tạo ra có thể không chính xác.">
            <a:extLst>
              <a:ext uri="{FF2B5EF4-FFF2-40B4-BE49-F238E27FC236}">
                <a16:creationId xmlns:a16="http://schemas.microsoft.com/office/drawing/2014/main" id="{F2CB2D42-5BF5-2B35-F721-A3C9F824C3A8}"/>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6077" b="2329"/>
          <a:stretch>
            <a:fillRect/>
          </a:stretch>
        </p:blipFill>
        <p:spPr>
          <a:xfrm>
            <a:off x="4677519" y="2377441"/>
            <a:ext cx="2836959" cy="578815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2" name="1" descr="Ảnh có chứa văn bản, ảnh chụp màn hình&#10;&#10;Nội dung do AI tạo ra có thể không chính xác.">
            <a:extLst>
              <a:ext uri="{FF2B5EF4-FFF2-40B4-BE49-F238E27FC236}">
                <a16:creationId xmlns:a16="http://schemas.microsoft.com/office/drawing/2014/main" id="{A167AE0A-6D42-3102-94AD-433E0B0CC0C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l="-460" t="5466" b="2134"/>
          <a:stretch>
            <a:fillRect/>
          </a:stretch>
        </p:blipFill>
        <p:spPr>
          <a:xfrm>
            <a:off x="715088" y="338326"/>
            <a:ext cx="2882743" cy="587959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36" name="1" descr="Ảnh có chứa văn bản, ảnh chụp màn hình, Mặt người, thiết kế&#10;&#10;Nội dung do AI tạo ra có thể không chính xác.">
            <a:extLst>
              <a:ext uri="{FF2B5EF4-FFF2-40B4-BE49-F238E27FC236}">
                <a16:creationId xmlns:a16="http://schemas.microsoft.com/office/drawing/2014/main" id="{B36E0F46-7843-11E6-CBB5-2708F52D6183}"/>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8594166" y="338327"/>
            <a:ext cx="3031540" cy="587959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8" name="2">
            <a:extLst>
              <a:ext uri="{FF2B5EF4-FFF2-40B4-BE49-F238E27FC236}">
                <a16:creationId xmlns:a16="http://schemas.microsoft.com/office/drawing/2014/main" id="{560EFD39-C513-CB2E-2299-CB9B40B364F7}"/>
              </a:ext>
            </a:extLst>
          </p:cNvPr>
          <p:cNvSpPr>
            <a:spLocks noGrp="1" noRot="1" noMove="1" noResize="1" noEditPoints="1" noAdjustHandles="1" noChangeArrowheads="1" noChangeShapeType="1"/>
          </p:cNvSpPr>
          <p:nvPr/>
        </p:nvSpPr>
        <p:spPr>
          <a:xfrm>
            <a:off x="0" y="0"/>
            <a:ext cx="12192000" cy="6858000"/>
          </a:xfrm>
          <a:prstGeom prst="rect">
            <a:avLst/>
          </a:prstGeom>
          <a:solidFill>
            <a:srgbClr val="FDF5E6">
              <a:alpha val="60000"/>
            </a:srgb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solidFill>
                <a:srgbClr val="FDF5E6"/>
              </a:solidFill>
            </a:endParaRPr>
          </a:p>
        </p:txBody>
      </p:sp>
      <p:sp>
        <p:nvSpPr>
          <p:cNvPr id="45" name="bìa">
            <a:extLst>
              <a:ext uri="{FF2B5EF4-FFF2-40B4-BE49-F238E27FC236}">
                <a16:creationId xmlns:a16="http://schemas.microsoft.com/office/drawing/2014/main" id="{22939223-6F21-0DA4-FF21-C6E1FD71E980}"/>
              </a:ext>
            </a:extLst>
          </p:cNvPr>
          <p:cNvSpPr>
            <a:spLocks noGrp="1" noRot="1" noMove="1" noResize="1" noEditPoints="1" noAdjustHandles="1" noChangeArrowheads="1" noChangeShapeType="1"/>
          </p:cNvSpPr>
          <p:nvPr/>
        </p:nvSpPr>
        <p:spPr>
          <a:xfrm>
            <a:off x="1384886" y="1237296"/>
            <a:ext cx="8578264" cy="4125279"/>
          </a:xfrm>
          <a:prstGeom prst="rect">
            <a:avLst/>
          </a:prstGeom>
          <a:solidFill>
            <a:srgbClr val="FDF5E6"/>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7" name="bìa">
            <a:extLst>
              <a:ext uri="{FF2B5EF4-FFF2-40B4-BE49-F238E27FC236}">
                <a16:creationId xmlns:a16="http://schemas.microsoft.com/office/drawing/2014/main" id="{A4FC4BE7-2DF7-9D57-AD4C-95F85601C7B2}"/>
              </a:ext>
            </a:extLst>
          </p:cNvPr>
          <p:cNvSpPr>
            <a:spLocks noGrp="1" noRot="1" noMove="1" noResize="1" noEditPoints="1" noAdjustHandles="1" noChangeArrowheads="1" noChangeShapeType="1"/>
          </p:cNvSpPr>
          <p:nvPr/>
        </p:nvSpPr>
        <p:spPr>
          <a:xfrm>
            <a:off x="1384886" y="4449888"/>
            <a:ext cx="8578264" cy="2069784"/>
          </a:xfrm>
          <a:prstGeom prst="rect">
            <a:avLst/>
          </a:prstGeom>
          <a:solidFill>
            <a:srgbClr val="FDF5E6"/>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33" name="tròn" descr="Ảnh có chứa hình vẽ, bản phác thảo, tách cà phê, cốc&#10;&#10;Nội dung do AI tạo ra có thể không chính xác.">
            <a:extLst>
              <a:ext uri="{FF2B5EF4-FFF2-40B4-BE49-F238E27FC236}">
                <a16:creationId xmlns:a16="http://schemas.microsoft.com/office/drawing/2014/main" id="{4F9B6AC0-5874-4381-B947-55CB170744F5}"/>
              </a:ext>
            </a:extLst>
          </p:cNvPr>
          <p:cNvPicPr>
            <a:picLocks noGrp="1" noRot="1" noChangeAspect="1" noMove="1" noResize="1" noEditPoints="1" noAdjustHandles="1" noChangeArrowheads="1" noChangeShapeType="1" noCrop="1"/>
          </p:cNvPicPr>
          <p:nvPr/>
        </p:nvPicPr>
        <p:blipFill>
          <a:blip r:embed="rId6">
            <a:extLst>
              <a:ext uri="{BEBA8EAE-BF5A-486C-A8C5-ECC9F3942E4B}">
                <a14:imgProps xmlns:a14="http://schemas.microsoft.com/office/drawing/2010/main">
                  <a14:imgLayer r:embed="rId7">
                    <a14:imgEffect>
                      <a14:colorTemperature colorTemp="7200"/>
                    </a14:imgEffect>
                  </a14:imgLayer>
                </a14:imgProps>
              </a:ext>
              <a:ext uri="{28A0092B-C50C-407E-A947-70E740481C1C}">
                <a14:useLocalDpi xmlns:a14="http://schemas.microsoft.com/office/drawing/2010/main" val="0"/>
              </a:ext>
            </a:extLst>
          </a:blip>
          <a:stretch>
            <a:fillRect/>
          </a:stretch>
        </p:blipFill>
        <p:spPr>
          <a:xfrm>
            <a:off x="5589336" y="3328222"/>
            <a:ext cx="1013322" cy="1013322"/>
          </a:xfrm>
          <a:prstGeom prst="ellipse">
            <a:avLst/>
          </a:prstGeom>
          <a:ln>
            <a:noFill/>
          </a:ln>
          <a:effectLst>
            <a:softEdge rad="112500"/>
          </a:effectLst>
        </p:spPr>
      </p:pic>
      <p:sp>
        <p:nvSpPr>
          <p:cNvPr id="37" name="td">
            <a:extLst>
              <a:ext uri="{FF2B5EF4-FFF2-40B4-BE49-F238E27FC236}">
                <a16:creationId xmlns:a16="http://schemas.microsoft.com/office/drawing/2014/main" id="{BB1A3103-1726-8B67-B66B-60B66D5E4327}"/>
              </a:ext>
            </a:extLst>
          </p:cNvPr>
          <p:cNvSpPr txBox="1">
            <a:spLocks noGrp="1" noRot="1" noMove="1" noResize="1" noEditPoints="1" noAdjustHandles="1" noChangeArrowheads="1" noChangeShapeType="1"/>
          </p:cNvSpPr>
          <p:nvPr/>
        </p:nvSpPr>
        <p:spPr>
          <a:xfrm>
            <a:off x="3560681" y="1874997"/>
            <a:ext cx="5070633" cy="914096"/>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vi-VN" sz="5400" b="1">
                <a:solidFill>
                  <a:schemeClr val="tx1">
                    <a:lumMod val="75000"/>
                    <a:lumOff val="25000"/>
                  </a:schemeClr>
                </a:solidFill>
                <a:cs typeface="Poppins"/>
                <a:sym typeface="Poppins"/>
              </a:rPr>
              <a:t>Đồ Án Cuối Kì</a:t>
            </a:r>
            <a:endParaRPr b="1">
              <a:solidFill>
                <a:schemeClr val="tx1">
                  <a:lumMod val="75000"/>
                  <a:lumOff val="25000"/>
                </a:schemeClr>
              </a:solidFill>
            </a:endParaRPr>
          </a:p>
        </p:txBody>
      </p:sp>
      <p:sp>
        <p:nvSpPr>
          <p:cNvPr id="41" name="td">
            <a:extLst>
              <a:ext uri="{FF2B5EF4-FFF2-40B4-BE49-F238E27FC236}">
                <a16:creationId xmlns:a16="http://schemas.microsoft.com/office/drawing/2014/main" id="{CDEE4DEF-5790-90F0-B29C-28E61C3BCC00}"/>
              </a:ext>
            </a:extLst>
          </p:cNvPr>
          <p:cNvSpPr txBox="1">
            <a:spLocks noGrp="1" noRot="1" noMove="1" noResize="1" noEditPoints="1" noAdjustHandles="1" noChangeArrowheads="1" noChangeShapeType="1"/>
          </p:cNvSpPr>
          <p:nvPr/>
        </p:nvSpPr>
        <p:spPr>
          <a:xfrm>
            <a:off x="3104100" y="2783215"/>
            <a:ext cx="5983798" cy="68942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800" i="0" u="none" strike="noStrike" cap="none">
                <a:solidFill>
                  <a:schemeClr val="tx1">
                    <a:lumMod val="75000"/>
                    <a:lumOff val="25000"/>
                  </a:schemeClr>
                </a:solidFill>
                <a:latin typeface="Arial" panose="020B0604020202020204" pitchFamily="34" charset="0"/>
                <a:ea typeface="Inter Medium"/>
                <a:cs typeface="Arial" panose="020B0604020202020204" pitchFamily="34" charset="0"/>
                <a:sym typeface="Inter Medium"/>
              </a:rPr>
              <a:t>Ứng dụng đặt đồ uống trực tuyến</a:t>
            </a:r>
            <a:endParaRPr sz="2000">
              <a:solidFill>
                <a:schemeClr val="tx1">
                  <a:lumMod val="75000"/>
                  <a:lumOff val="25000"/>
                </a:schemeClr>
              </a:solidFill>
              <a:latin typeface="Arial" panose="020B0604020202020204" pitchFamily="34" charset="0"/>
              <a:cs typeface="Arial" panose="020B0604020202020204" pitchFamily="34" charset="0"/>
            </a:endParaRPr>
          </a:p>
        </p:txBody>
      </p:sp>
      <p:sp>
        <p:nvSpPr>
          <p:cNvPr id="49" name="td">
            <a:extLst>
              <a:ext uri="{FF2B5EF4-FFF2-40B4-BE49-F238E27FC236}">
                <a16:creationId xmlns:a16="http://schemas.microsoft.com/office/drawing/2014/main" id="{FE829EE0-6BF0-B2BF-45D6-4D7A6C4BB609}"/>
              </a:ext>
            </a:extLst>
          </p:cNvPr>
          <p:cNvSpPr txBox="1">
            <a:spLocks noGrp="1" noRot="1" noMove="1" noResize="1" noEditPoints="1" noAdjustHandles="1" noChangeArrowheads="1" noChangeShapeType="1"/>
          </p:cNvSpPr>
          <p:nvPr/>
        </p:nvSpPr>
        <p:spPr>
          <a:xfrm>
            <a:off x="3104100" y="4379787"/>
            <a:ext cx="5983798" cy="123110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b="1" i="0" u="none" strike="noStrike" cap="none">
                <a:solidFill>
                  <a:schemeClr val="tx1">
                    <a:lumMod val="75000"/>
                    <a:lumOff val="25000"/>
                  </a:schemeClr>
                </a:solidFill>
                <a:latin typeface="Arial" panose="020B0604020202020204" pitchFamily="34" charset="0"/>
                <a:ea typeface="Inter Medium"/>
                <a:cs typeface="Arial" panose="020B0604020202020204" pitchFamily="34" charset="0"/>
                <a:sym typeface="Inter Medium"/>
              </a:rPr>
              <a:t>GVHD: </a:t>
            </a:r>
            <a:r>
              <a:rPr lang="vi-VN" b="1" i="0" u="none" strike="noStrike" cap="none">
                <a:solidFill>
                  <a:schemeClr val="tx1">
                    <a:lumMod val="75000"/>
                    <a:lumOff val="25000"/>
                  </a:schemeClr>
                </a:solidFill>
                <a:latin typeface="Arial" panose="020B0604020202020204" pitchFamily="34" charset="0"/>
                <a:ea typeface="Inter Medium"/>
                <a:cs typeface="Arial" panose="020B0604020202020204" pitchFamily="34" charset="0"/>
                <a:sym typeface="Inter Medium"/>
              </a:rPr>
              <a:t>Trương Quang Tuấn</a:t>
            </a:r>
          </a:p>
          <a:p>
            <a:pPr marL="0" marR="0" lvl="0" indent="0" algn="ctr" rtl="0">
              <a:lnSpc>
                <a:spcPct val="160000"/>
              </a:lnSpc>
              <a:spcBef>
                <a:spcPts val="0"/>
              </a:spcBef>
              <a:spcAft>
                <a:spcPts val="0"/>
              </a:spcAft>
              <a:buNone/>
            </a:pPr>
            <a:r>
              <a:rPr lang="vi-VN">
                <a:solidFill>
                  <a:schemeClr val="tx1">
                    <a:lumMod val="75000"/>
                    <a:lumOff val="25000"/>
                  </a:schemeClr>
                </a:solidFill>
                <a:latin typeface="Arial" panose="020B0604020202020204" pitchFamily="34" charset="0"/>
                <a:ea typeface="Inter Medium"/>
                <a:cs typeface="Arial" panose="020B0604020202020204" pitchFamily="34" charset="0"/>
                <a:sym typeface="Inter Medium"/>
              </a:rPr>
              <a:t>Môn học: Lập trình thiết bị di động</a:t>
            </a:r>
            <a:endParaRPr lang="vi-VN" i="0" u="none" strike="noStrike" cap="none">
              <a:solidFill>
                <a:schemeClr val="tx1">
                  <a:lumMod val="75000"/>
                  <a:lumOff val="25000"/>
                </a:schemeClr>
              </a:solidFill>
              <a:latin typeface="Arial" panose="020B0604020202020204" pitchFamily="34" charset="0"/>
              <a:ea typeface="Inter Medium"/>
              <a:cs typeface="Arial" panose="020B0604020202020204" pitchFamily="34" charset="0"/>
              <a:sym typeface="Inter Medium"/>
            </a:endParaRPr>
          </a:p>
          <a:p>
            <a:pPr marL="0" marR="0" lvl="0" indent="0" algn="ctr" rtl="0">
              <a:lnSpc>
                <a:spcPct val="160000"/>
              </a:lnSpc>
              <a:spcBef>
                <a:spcPts val="0"/>
              </a:spcBef>
              <a:spcAft>
                <a:spcPts val="0"/>
              </a:spcAft>
              <a:buNone/>
            </a:pPr>
            <a:endParaRPr sz="1400">
              <a:solidFill>
                <a:schemeClr val="tx1">
                  <a:lumMod val="75000"/>
                  <a:lumOff val="25000"/>
                </a:schemeClr>
              </a:solidFill>
              <a:latin typeface="Arial" panose="020B0604020202020204" pitchFamily="34" charset="0"/>
              <a:cs typeface="Arial" panose="020B0604020202020204" pitchFamily="34" charset="0"/>
            </a:endParaRPr>
          </a:p>
        </p:txBody>
      </p:sp>
      <p:cxnSp>
        <p:nvCxnSpPr>
          <p:cNvPr id="52" name="Đường nối Thẳng 51">
            <a:extLst>
              <a:ext uri="{FF2B5EF4-FFF2-40B4-BE49-F238E27FC236}">
                <a16:creationId xmlns:a16="http://schemas.microsoft.com/office/drawing/2014/main" id="{F4D83D58-75B4-A505-E189-ABB829354FE5}"/>
              </a:ext>
            </a:extLst>
          </p:cNvPr>
          <p:cNvCxnSpPr>
            <a:cxnSpLocks noGrp="1" noRot="1" noMove="1" noResize="1" noEditPoints="1" noAdjustHandles="1" noChangeArrowheads="1" noChangeShapeType="1"/>
          </p:cNvCxnSpPr>
          <p:nvPr/>
        </p:nvCxnSpPr>
        <p:spPr>
          <a:xfrm>
            <a:off x="4771746" y="4371604"/>
            <a:ext cx="2510839" cy="0"/>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pic>
        <p:nvPicPr>
          <p:cNvPr id="3" name="logo" descr="Ảnh có chứa văn bản, Phông chữ, thiết kế đồ họa, Đồ họa&#10;&#10;Nội dung do AI tạo ra có thể không chính xác.">
            <a:extLst>
              <a:ext uri="{FF2B5EF4-FFF2-40B4-BE49-F238E27FC236}">
                <a16:creationId xmlns:a16="http://schemas.microsoft.com/office/drawing/2014/main" id="{5E5DB0F5-86B8-2B55-F5D9-9CCB33F24000}"/>
              </a:ext>
            </a:extLst>
          </p:cNvPr>
          <p:cNvPicPr>
            <a:picLocks noGrp="1" noRot="1" noChangeAspect="1" noMove="1" noResize="1" noEditPoints="1" noAdjustHandles="1" noChangeArrowheads="1" noChangeShapeType="1" noCrop="1"/>
          </p:cNvPicPr>
          <p:nvPr/>
        </p:nvPicPr>
        <p:blipFill>
          <a:blip r:embed="rId8">
            <a:extLst>
              <a:ext uri="{28A0092B-C50C-407E-A947-70E740481C1C}">
                <a14:useLocalDpi xmlns:a14="http://schemas.microsoft.com/office/drawing/2010/main" val="0"/>
              </a:ext>
            </a:extLst>
          </a:blip>
          <a:stretch>
            <a:fillRect/>
          </a:stretch>
        </p:blipFill>
        <p:spPr>
          <a:xfrm>
            <a:off x="5248748" y="501890"/>
            <a:ext cx="1694504" cy="1271612"/>
          </a:xfrm>
          <a:prstGeom prst="rect">
            <a:avLst/>
          </a:prstGeom>
        </p:spPr>
      </p:pic>
    </p:spTree>
    <p:extLst>
      <p:ext uri="{BB962C8B-B14F-4D97-AF65-F5344CB8AC3E}">
        <p14:creationId xmlns:p14="http://schemas.microsoft.com/office/powerpoint/2010/main" val="4144762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14" descr="image.png"/>
          <p:cNvPicPr preferRelativeResize="0">
            <a:picLocks noGrp="1" noRot="1" noMove="1" noResize="1" noEditPoints="1" noAdjustHandles="1" noChangeArrowheads="1" noChangeShapeType="1" noCrop="1"/>
          </p:cNvPicPr>
          <p:nvPr/>
        </p:nvPicPr>
        <p:blipFill rotWithShape="1">
          <a:blip r:embed="rId3">
            <a:alphaModFix/>
          </a:blip>
          <a:srcRect/>
          <a:stretch/>
        </p:blipFill>
        <p:spPr>
          <a:xfrm>
            <a:off x="0" y="0"/>
            <a:ext cx="12192000" cy="6858000"/>
          </a:xfrm>
          <a:prstGeom prst="rect">
            <a:avLst/>
          </a:prstGeom>
          <a:noFill/>
          <a:ln>
            <a:noFill/>
          </a:ln>
        </p:spPr>
      </p:pic>
      <p:sp>
        <p:nvSpPr>
          <p:cNvPr id="101" name="Google Shape;101;p14"/>
          <p:cNvSpPr txBox="1"/>
          <p:nvPr/>
        </p:nvSpPr>
        <p:spPr>
          <a:xfrm>
            <a:off x="6381749" y="5153917"/>
            <a:ext cx="5286375" cy="369332"/>
          </a:xfrm>
          <a:prstGeom prst="rect">
            <a:avLst/>
          </a:prstGeom>
          <a:noFill/>
          <a:ln>
            <a:noFill/>
          </a:ln>
        </p:spPr>
        <p:txBody>
          <a:bodyPr spcFirstLastPara="1" wrap="square" lIns="180975"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4E342E"/>
                </a:solidFill>
                <a:latin typeface="Arial" panose="020B0604020202020204" pitchFamily="34" charset="0"/>
                <a:ea typeface="Lato"/>
                <a:cs typeface="Arial" panose="020B0604020202020204" pitchFamily="34" charset="0"/>
                <a:sym typeface="Lato"/>
              </a:rPr>
              <a:t> Quét để xem Source Code</a:t>
            </a:r>
            <a:endParaRPr>
              <a:latin typeface="Arial" panose="020B0604020202020204" pitchFamily="34" charset="0"/>
              <a:cs typeface="Arial" panose="020B0604020202020204" pitchFamily="34" charset="0"/>
            </a:endParaRPr>
          </a:p>
        </p:txBody>
      </p:sp>
      <p:sp>
        <p:nvSpPr>
          <p:cNvPr id="105" name="Google Shape;105;p14"/>
          <p:cNvSpPr txBox="1">
            <a:spLocks/>
          </p:cNvSpPr>
          <p:nvPr/>
        </p:nvSpPr>
        <p:spPr>
          <a:xfrm>
            <a:off x="571500" y="571500"/>
            <a:ext cx="1160145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Thông Tin Nhóm</a:t>
            </a:r>
            <a:endParaRPr sz="1600">
              <a:latin typeface="Arial" panose="020B0604020202020204" pitchFamily="34" charset="0"/>
              <a:cs typeface="Arial" panose="020B0604020202020204" pitchFamily="34" charset="0"/>
            </a:endParaRPr>
          </a:p>
        </p:txBody>
      </p:sp>
      <p:sp>
        <p:nvSpPr>
          <p:cNvPr id="106" name="Google Shape;106;p14"/>
          <p:cNvSpPr>
            <a:spLocks/>
          </p:cNvSpPr>
          <p:nvPr/>
        </p:nvSpPr>
        <p:spPr>
          <a:xfrm>
            <a:off x="571500" y="1323975"/>
            <a:ext cx="11049000" cy="28575"/>
          </a:xfrm>
          <a:prstGeom prst="rect">
            <a:avLst/>
          </a:prstGeom>
          <a:solidFill>
            <a:srgbClr val="8D6E6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pitchFamily="34" charset="0"/>
              <a:ea typeface="Calibri"/>
              <a:cs typeface="Arial" panose="020B0604020202020204" pitchFamily="34" charset="0"/>
              <a:sym typeface="Calibri"/>
            </a:endParaRPr>
          </a:p>
        </p:txBody>
      </p:sp>
      <p:pic>
        <p:nvPicPr>
          <p:cNvPr id="2" name="Google Shape;96;p14" descr="image.png">
            <a:extLst>
              <a:ext uri="{FF2B5EF4-FFF2-40B4-BE49-F238E27FC236}">
                <a16:creationId xmlns:a16="http://schemas.microsoft.com/office/drawing/2014/main" id="{DD8C9037-9BAE-FA7E-09A5-B0C58E1F6621}"/>
              </a:ext>
            </a:extLst>
          </p:cNvPr>
          <p:cNvPicPr preferRelativeResize="0">
            <a:picLocks noGrp="1" noRot="1" noMove="1" noResize="1" noEditPoints="1" noAdjustHandles="1" noChangeArrowheads="1" noChangeShapeType="1" noCrop="1"/>
          </p:cNvPicPr>
          <p:nvPr/>
        </p:nvPicPr>
        <p:blipFill rotWithShape="1">
          <a:blip r:embed="rId4">
            <a:alphaModFix/>
          </a:blip>
          <a:srcRect/>
          <a:stretch/>
        </p:blipFill>
        <p:spPr>
          <a:xfrm>
            <a:off x="7358062" y="1820167"/>
            <a:ext cx="3333750" cy="3333750"/>
          </a:xfrm>
          <a:prstGeom prst="rect">
            <a:avLst/>
          </a:prstGeom>
          <a:noFill/>
          <a:ln>
            <a:noFill/>
          </a:ln>
        </p:spPr>
      </p:pic>
      <p:graphicFrame>
        <p:nvGraphicFramePr>
          <p:cNvPr id="7" name="Bảng 6">
            <a:extLst>
              <a:ext uri="{FF2B5EF4-FFF2-40B4-BE49-F238E27FC236}">
                <a16:creationId xmlns:a16="http://schemas.microsoft.com/office/drawing/2014/main" id="{261E9C8E-90B3-B5FB-98C4-58ADC2688BA7}"/>
              </a:ext>
            </a:extLst>
          </p:cNvPr>
          <p:cNvGraphicFramePr>
            <a:graphicFrameLocks noGrp="1"/>
          </p:cNvGraphicFramePr>
          <p:nvPr>
            <p:extLst>
              <p:ext uri="{D42A27DB-BD31-4B8C-83A1-F6EECF244321}">
                <p14:modId xmlns:p14="http://schemas.microsoft.com/office/powerpoint/2010/main" val="3724917255"/>
              </p:ext>
            </p:extLst>
          </p:nvPr>
        </p:nvGraphicFramePr>
        <p:xfrm>
          <a:off x="571500" y="1948390"/>
          <a:ext cx="5905500" cy="2760272"/>
        </p:xfrm>
        <a:graphic>
          <a:graphicData uri="http://schemas.openxmlformats.org/drawingml/2006/table">
            <a:tbl>
              <a:tblPr firstRow="1" bandRow="1">
                <a:tableStyleId>{073A0DAA-6AF3-43AB-8588-CEC1D06C72B9}</a:tableStyleId>
              </a:tblPr>
              <a:tblGrid>
                <a:gridCol w="2952750">
                  <a:extLst>
                    <a:ext uri="{9D8B030D-6E8A-4147-A177-3AD203B41FA5}">
                      <a16:colId xmlns:a16="http://schemas.microsoft.com/office/drawing/2014/main" val="2831885167"/>
                    </a:ext>
                  </a:extLst>
                </a:gridCol>
                <a:gridCol w="2952750">
                  <a:extLst>
                    <a:ext uri="{9D8B030D-6E8A-4147-A177-3AD203B41FA5}">
                      <a16:colId xmlns:a16="http://schemas.microsoft.com/office/drawing/2014/main" val="3449630816"/>
                    </a:ext>
                  </a:extLst>
                </a:gridCol>
              </a:tblGrid>
              <a:tr h="457478">
                <a:tc>
                  <a:txBody>
                    <a:bodyPr/>
                    <a:lstStyle/>
                    <a:p>
                      <a:pPr algn="ctr"/>
                      <a:r>
                        <a:rPr lang="vi-VN"/>
                        <a:t>Nguyễn Minh Hải (L)</a:t>
                      </a:r>
                    </a:p>
                  </a:txBody>
                  <a:tcPr anchor="ctr"/>
                </a:tc>
                <a:tc>
                  <a:txBody>
                    <a:bodyPr/>
                    <a:lstStyle/>
                    <a:p>
                      <a:pPr algn="ctr"/>
                      <a:r>
                        <a:rPr lang="vi-VN"/>
                        <a:t>Nguyễn Hồng Quang</a:t>
                      </a:r>
                    </a:p>
                  </a:txBody>
                  <a:tcPr anchor="ctr"/>
                </a:tc>
                <a:extLst>
                  <a:ext uri="{0D108BD9-81ED-4DB2-BD59-A6C34878D82A}">
                    <a16:rowId xmlns:a16="http://schemas.microsoft.com/office/drawing/2014/main" val="1078748017"/>
                  </a:ext>
                </a:extLst>
              </a:tr>
              <a:tr h="648228">
                <a:tc>
                  <a:txBody>
                    <a:bodyPr/>
                    <a:lstStyle/>
                    <a:p>
                      <a:pPr algn="ctr"/>
                      <a:r>
                        <a:rPr lang="vi-VN" sz="1800" b="0" i="0" kern="1200">
                          <a:solidFill>
                            <a:schemeClr val="dk1"/>
                          </a:solidFill>
                          <a:effectLst/>
                          <a:latin typeface="+mn-lt"/>
                          <a:ea typeface="+mn-ea"/>
                          <a:cs typeface="+mn-cs"/>
                        </a:rPr>
                        <a:t>058205004889</a:t>
                      </a:r>
                      <a:endParaRPr lang="en-US"/>
                    </a:p>
                  </a:txBody>
                  <a:tcPr anchor="ctr"/>
                </a:tc>
                <a:tc>
                  <a:txBody>
                    <a:bodyPr/>
                    <a:lstStyle/>
                    <a:p>
                      <a:pPr algn="ctr"/>
                      <a:r>
                        <a:rPr lang="vi-VN" sz="1800" b="0" i="0" kern="1200">
                          <a:solidFill>
                            <a:schemeClr val="dk1"/>
                          </a:solidFill>
                          <a:effectLst/>
                          <a:latin typeface="+mn-lt"/>
                          <a:ea typeface="+mn-ea"/>
                          <a:cs typeface="+mn-cs"/>
                        </a:rPr>
                        <a:t>035205010472</a:t>
                      </a:r>
                      <a:endParaRPr lang="vi-VN"/>
                    </a:p>
                  </a:txBody>
                  <a:tcPr anchor="ctr"/>
                </a:tc>
                <a:extLst>
                  <a:ext uri="{0D108BD9-81ED-4DB2-BD59-A6C34878D82A}">
                    <a16:rowId xmlns:a16="http://schemas.microsoft.com/office/drawing/2014/main" val="3883459909"/>
                  </a:ext>
                </a:extLst>
              </a:tr>
              <a:tr h="1654566">
                <a:tc>
                  <a:txBody>
                    <a:bodyPr/>
                    <a:lstStyle/>
                    <a:p>
                      <a:pPr algn="ctr"/>
                      <a:endParaRPr lang="vi-VN"/>
                    </a:p>
                  </a:txBody>
                  <a:tcPr anchor="ctr"/>
                </a:tc>
                <a:tc>
                  <a:txBody>
                    <a:bodyPr/>
                    <a:lstStyle/>
                    <a:p>
                      <a:pPr algn="ctr"/>
                      <a:endParaRPr lang="vi-VN"/>
                    </a:p>
                  </a:txBody>
                  <a:tcPr anchor="ctr"/>
                </a:tc>
                <a:extLst>
                  <a:ext uri="{0D108BD9-81ED-4DB2-BD59-A6C34878D82A}">
                    <a16:rowId xmlns:a16="http://schemas.microsoft.com/office/drawing/2014/main" val="2411505356"/>
                  </a:ext>
                </a:extLst>
              </a:tr>
            </a:tbl>
          </a:graphicData>
        </a:graphic>
      </p:graphicFrame>
      <p:pic>
        <p:nvPicPr>
          <p:cNvPr id="11" name="Hình ảnh 10" descr="Ảnh có chứa màu đen, bóng tối&#10;&#10;Nội dung do AI tạo ra có thể không chính xác.">
            <a:extLst>
              <a:ext uri="{FF2B5EF4-FFF2-40B4-BE49-F238E27FC236}">
                <a16:creationId xmlns:a16="http://schemas.microsoft.com/office/drawing/2014/main" id="{F7BCAF84-DE56-9BEE-A6F0-15D52D096F53}"/>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7529512" y="5186362"/>
            <a:ext cx="347663" cy="347663"/>
          </a:xfrm>
          <a:prstGeom prst="rect">
            <a:avLst/>
          </a:prstGeom>
        </p:spPr>
      </p:pic>
      <p:pic>
        <p:nvPicPr>
          <p:cNvPr id="12" name="Hình ảnh 11" descr="Ảnh có chứa màu đen, bóng tối&#10;&#10;Nội dung do AI tạo ra có thể không chính xác.">
            <a:extLst>
              <a:ext uri="{FF2B5EF4-FFF2-40B4-BE49-F238E27FC236}">
                <a16:creationId xmlns:a16="http://schemas.microsoft.com/office/drawing/2014/main" id="{8E325178-E08D-383B-41B8-47E8D4547A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58549" y="3145686"/>
            <a:ext cx="289610" cy="289610"/>
          </a:xfrm>
          <a:prstGeom prst="rect">
            <a:avLst/>
          </a:prstGeom>
        </p:spPr>
      </p:pic>
      <p:pic>
        <p:nvPicPr>
          <p:cNvPr id="18" name="Hình ảnh 17" descr="Ảnh có chứa màu đen, bóng tối&#10;&#10;Nội dung do AI tạo ra có thể không chính xác.">
            <a:extLst>
              <a:ext uri="{FF2B5EF4-FFF2-40B4-BE49-F238E27FC236}">
                <a16:creationId xmlns:a16="http://schemas.microsoft.com/office/drawing/2014/main" id="{ED37F7DA-D1C1-147C-AD20-7339D5838B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6751" y="3139390"/>
            <a:ext cx="289610" cy="289610"/>
          </a:xfrm>
          <a:prstGeom prst="rect">
            <a:avLst/>
          </a:prstGeom>
        </p:spPr>
      </p:pic>
      <p:pic>
        <p:nvPicPr>
          <p:cNvPr id="20" name="Hình ảnh 19" descr="Ảnh có chứa mẫu, hình vuông, điểm ảnh, thiết kế&#10;&#10;Nội dung do AI tạo ra có thể không chính xác.">
            <a:extLst>
              <a:ext uri="{FF2B5EF4-FFF2-40B4-BE49-F238E27FC236}">
                <a16:creationId xmlns:a16="http://schemas.microsoft.com/office/drawing/2014/main" id="{96C4A8E4-9EF8-0AD6-A90D-0A6AD8FD85DE}"/>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7493610" y="1897674"/>
            <a:ext cx="3062652" cy="306265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4" name="Hình ảnh 3">
            <a:extLst>
              <a:ext uri="{FF2B5EF4-FFF2-40B4-BE49-F238E27FC236}">
                <a16:creationId xmlns:a16="http://schemas.microsoft.com/office/drawing/2014/main" id="{3AAE61C6-CEB0-37DA-E450-A83B7614F511}"/>
              </a:ext>
            </a:extLst>
          </p:cNvPr>
          <p:cNvPicPr>
            <a:picLocks noChangeAspect="1"/>
          </p:cNvPicPr>
          <p:nvPr/>
        </p:nvPicPr>
        <p:blipFill>
          <a:blip r:embed="rId7"/>
          <a:stretch>
            <a:fillRect/>
          </a:stretch>
        </p:blipFill>
        <p:spPr>
          <a:xfrm>
            <a:off x="3725975" y="3789880"/>
            <a:ext cx="2591162" cy="323895"/>
          </a:xfrm>
          <a:prstGeom prst="rect">
            <a:avLst/>
          </a:prstGeom>
        </p:spPr>
      </p:pic>
      <p:pic>
        <p:nvPicPr>
          <p:cNvPr id="6" name="Hình ảnh 5">
            <a:extLst>
              <a:ext uri="{FF2B5EF4-FFF2-40B4-BE49-F238E27FC236}">
                <a16:creationId xmlns:a16="http://schemas.microsoft.com/office/drawing/2014/main" id="{ACDBB9A6-6F30-7D3D-311E-AA6A586A8095}"/>
              </a:ext>
            </a:extLst>
          </p:cNvPr>
          <p:cNvPicPr>
            <a:picLocks noChangeAspect="1"/>
          </p:cNvPicPr>
          <p:nvPr/>
        </p:nvPicPr>
        <p:blipFill>
          <a:blip r:embed="rId8"/>
          <a:stretch>
            <a:fillRect/>
          </a:stretch>
        </p:blipFill>
        <p:spPr>
          <a:xfrm>
            <a:off x="662104" y="3789497"/>
            <a:ext cx="2572109" cy="3242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15" descr="image.png"/>
          <p:cNvPicPr preferRelativeResize="0">
            <a:picLocks noGrp="1" noRot="1" noMove="1" noResize="1" noEditPoints="1" noAdjustHandles="1" noChangeArrowheads="1" noChangeShapeType="1" noCrop="1"/>
          </p:cNvPicPr>
          <p:nvPr/>
        </p:nvPicPr>
        <p:blipFill rotWithShape="1">
          <a:blip r:embed="rId3">
            <a:alphaModFix/>
          </a:blip>
          <a:srcRect/>
          <a:stretch/>
        </p:blipFill>
        <p:spPr>
          <a:xfrm>
            <a:off x="0" y="0"/>
            <a:ext cx="12192000" cy="6858000"/>
          </a:xfrm>
          <a:prstGeom prst="rect">
            <a:avLst/>
          </a:prstGeom>
          <a:noFill/>
          <a:ln>
            <a:noFill/>
          </a:ln>
        </p:spPr>
      </p:pic>
      <p:pic>
        <p:nvPicPr>
          <p:cNvPr id="112" name="Google Shape;112;p15" descr="image.png"/>
          <p:cNvPicPr preferRelativeResize="0"/>
          <p:nvPr/>
        </p:nvPicPr>
        <p:blipFill rotWithShape="1">
          <a:blip r:embed="rId4">
            <a:alphaModFix/>
          </a:blip>
          <a:srcRect/>
          <a:stretch/>
        </p:blipFill>
        <p:spPr>
          <a:xfrm>
            <a:off x="1779029" y="2248470"/>
            <a:ext cx="3558058" cy="2533842"/>
          </a:xfrm>
          <a:prstGeom prst="rect">
            <a:avLst/>
          </a:prstGeom>
          <a:noFill/>
          <a:ln>
            <a:noFill/>
          </a:ln>
        </p:spPr>
      </p:pic>
      <p:sp>
        <p:nvSpPr>
          <p:cNvPr id="128" name="Google Shape;128;p15"/>
          <p:cNvSpPr txBox="1"/>
          <p:nvPr/>
        </p:nvSpPr>
        <p:spPr>
          <a:xfrm>
            <a:off x="571500" y="571500"/>
            <a:ext cx="1160145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Phân Công </a:t>
            </a:r>
            <a:r>
              <a:rPr lang="vi-VN" sz="32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và</a:t>
            </a:r>
            <a:r>
              <a:rPr lang="en-US" sz="32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 Thực Hiện</a:t>
            </a:r>
            <a:endParaRPr sz="1600">
              <a:latin typeface="Arial" panose="020B0604020202020204" pitchFamily="34" charset="0"/>
              <a:cs typeface="Arial" panose="020B0604020202020204" pitchFamily="34" charset="0"/>
            </a:endParaRPr>
          </a:p>
        </p:txBody>
      </p:sp>
      <p:sp>
        <p:nvSpPr>
          <p:cNvPr id="129" name="Google Shape;129;p15"/>
          <p:cNvSpPr/>
          <p:nvPr/>
        </p:nvSpPr>
        <p:spPr>
          <a:xfrm>
            <a:off x="571500" y="1323975"/>
            <a:ext cx="11049000" cy="28575"/>
          </a:xfrm>
          <a:prstGeom prst="rect">
            <a:avLst/>
          </a:prstGeom>
          <a:solidFill>
            <a:srgbClr val="8D6E6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pitchFamily="34" charset="0"/>
              <a:ea typeface="Calibri"/>
              <a:cs typeface="Arial" panose="020B0604020202020204" pitchFamily="34" charset="0"/>
              <a:sym typeface="Calibri"/>
            </a:endParaRPr>
          </a:p>
        </p:txBody>
      </p:sp>
      <p:pic>
        <p:nvPicPr>
          <p:cNvPr id="2" name="Google Shape;112;p15" descr="image.png">
            <a:extLst>
              <a:ext uri="{FF2B5EF4-FFF2-40B4-BE49-F238E27FC236}">
                <a16:creationId xmlns:a16="http://schemas.microsoft.com/office/drawing/2014/main" id="{E2208A7C-9503-7E22-545F-1A9285B38950}"/>
              </a:ext>
            </a:extLst>
          </p:cNvPr>
          <p:cNvPicPr preferRelativeResize="0"/>
          <p:nvPr/>
        </p:nvPicPr>
        <p:blipFill rotWithShape="1">
          <a:blip r:embed="rId4">
            <a:alphaModFix/>
          </a:blip>
          <a:srcRect/>
          <a:stretch/>
        </p:blipFill>
        <p:spPr>
          <a:xfrm>
            <a:off x="6096000" y="2248470"/>
            <a:ext cx="3558058" cy="2533842"/>
          </a:xfrm>
          <a:prstGeom prst="rect">
            <a:avLst/>
          </a:prstGeom>
          <a:noFill/>
          <a:ln>
            <a:noFill/>
          </a:ln>
        </p:spPr>
      </p:pic>
      <p:sp>
        <p:nvSpPr>
          <p:cNvPr id="4" name="Hộp Văn bản 3">
            <a:extLst>
              <a:ext uri="{FF2B5EF4-FFF2-40B4-BE49-F238E27FC236}">
                <a16:creationId xmlns:a16="http://schemas.microsoft.com/office/drawing/2014/main" id="{2E5B969B-7D89-1CEB-D92D-9549C66F42C9}"/>
              </a:ext>
            </a:extLst>
          </p:cNvPr>
          <p:cNvSpPr txBox="1"/>
          <p:nvPr/>
        </p:nvSpPr>
        <p:spPr>
          <a:xfrm>
            <a:off x="2341474" y="2506718"/>
            <a:ext cx="2433167" cy="369332"/>
          </a:xfrm>
          <a:prstGeom prst="rect">
            <a:avLst/>
          </a:prstGeom>
          <a:noFill/>
        </p:spPr>
        <p:txBody>
          <a:bodyPr wrap="square">
            <a:spAutoFit/>
          </a:bodyPr>
          <a:lstStyle/>
          <a:p>
            <a:pPr algn="ctr"/>
            <a:r>
              <a:rPr lang="vi-VN" b="1"/>
              <a:t>Nguyễn Minh Hải</a:t>
            </a:r>
          </a:p>
        </p:txBody>
      </p:sp>
      <p:sp>
        <p:nvSpPr>
          <p:cNvPr id="5" name="Hộp Văn bản 4">
            <a:extLst>
              <a:ext uri="{FF2B5EF4-FFF2-40B4-BE49-F238E27FC236}">
                <a16:creationId xmlns:a16="http://schemas.microsoft.com/office/drawing/2014/main" id="{644EEB6F-8C39-750A-2A43-FB26FF60582F}"/>
              </a:ext>
            </a:extLst>
          </p:cNvPr>
          <p:cNvSpPr txBox="1"/>
          <p:nvPr/>
        </p:nvSpPr>
        <p:spPr>
          <a:xfrm>
            <a:off x="6600247" y="2506718"/>
            <a:ext cx="2549563" cy="369332"/>
          </a:xfrm>
          <a:prstGeom prst="rect">
            <a:avLst/>
          </a:prstGeom>
          <a:noFill/>
        </p:spPr>
        <p:txBody>
          <a:bodyPr wrap="square">
            <a:spAutoFit/>
          </a:bodyPr>
          <a:lstStyle/>
          <a:p>
            <a:pPr algn="ctr"/>
            <a:r>
              <a:rPr lang="vi-VN" b="1"/>
              <a:t>Nguyễn Hồng Quang</a:t>
            </a:r>
          </a:p>
        </p:txBody>
      </p:sp>
      <p:sp>
        <p:nvSpPr>
          <p:cNvPr id="3" name="Hộp Văn bản 2">
            <a:extLst>
              <a:ext uri="{FF2B5EF4-FFF2-40B4-BE49-F238E27FC236}">
                <a16:creationId xmlns:a16="http://schemas.microsoft.com/office/drawing/2014/main" id="{05EB281B-4E5F-617D-BEF0-1C8DF86F8593}"/>
              </a:ext>
            </a:extLst>
          </p:cNvPr>
          <p:cNvSpPr txBox="1"/>
          <p:nvPr/>
        </p:nvSpPr>
        <p:spPr>
          <a:xfrm>
            <a:off x="1963825" y="2949324"/>
            <a:ext cx="3373262" cy="1323439"/>
          </a:xfrm>
          <a:prstGeom prst="rect">
            <a:avLst/>
          </a:prstGeom>
          <a:noFill/>
        </p:spPr>
        <p:txBody>
          <a:bodyPr wrap="square">
            <a:spAutoFit/>
          </a:bodyPr>
          <a:lstStyle/>
          <a:p>
            <a:pPr marL="285750" indent="-285750">
              <a:buFont typeface="Arial" panose="020B0604020202020204" pitchFamily="34" charset="0"/>
              <a:buChar char="•"/>
            </a:pPr>
            <a:r>
              <a:rPr lang="vi-VN" sz="1600"/>
              <a:t>Giao diện trang chủ mua nước.</a:t>
            </a:r>
          </a:p>
          <a:p>
            <a:pPr marL="285750" indent="-285750">
              <a:buFont typeface="Arial" panose="020B0604020202020204" pitchFamily="34" charset="0"/>
              <a:buChar char="•"/>
            </a:pPr>
            <a:r>
              <a:rPr lang="vi-VN" sz="1600"/>
              <a:t>Giao diện trang giỏ hàng.</a:t>
            </a:r>
          </a:p>
          <a:p>
            <a:pPr marL="285750" indent="-285750">
              <a:buFont typeface="Arial" panose="020B0604020202020204" pitchFamily="34" charset="0"/>
              <a:buChar char="•"/>
            </a:pPr>
            <a:r>
              <a:rPr lang="vi-VN" sz="1600"/>
              <a:t>Giao diện trang thanh toán.</a:t>
            </a:r>
          </a:p>
          <a:p>
            <a:pPr marL="285750" indent="-285750">
              <a:buFont typeface="Arial" panose="020B0604020202020204" pitchFamily="34" charset="0"/>
              <a:buChar char="•"/>
            </a:pPr>
            <a:r>
              <a:rPr lang="vi-VN" sz="1600"/>
              <a:t>Báo cáo</a:t>
            </a:r>
          </a:p>
          <a:p>
            <a:pPr marL="285750" indent="-285750">
              <a:buFont typeface="Arial" panose="020B0604020202020204" pitchFamily="34" charset="0"/>
              <a:buChar char="•"/>
            </a:pPr>
            <a:r>
              <a:rPr lang="vi-VN" sz="1600"/>
              <a:t>Chỉnh sửa Git nhóm</a:t>
            </a:r>
          </a:p>
        </p:txBody>
      </p:sp>
      <p:sp>
        <p:nvSpPr>
          <p:cNvPr id="6" name="Hộp Văn bản 5">
            <a:extLst>
              <a:ext uri="{FF2B5EF4-FFF2-40B4-BE49-F238E27FC236}">
                <a16:creationId xmlns:a16="http://schemas.microsoft.com/office/drawing/2014/main" id="{C2CB6AE0-CE9C-A984-6062-9944FD01A81B}"/>
              </a:ext>
            </a:extLst>
          </p:cNvPr>
          <p:cNvSpPr txBox="1"/>
          <p:nvPr/>
        </p:nvSpPr>
        <p:spPr>
          <a:xfrm>
            <a:off x="6289929" y="2949324"/>
            <a:ext cx="2845881" cy="1538883"/>
          </a:xfrm>
          <a:prstGeom prst="rect">
            <a:avLst/>
          </a:prstGeom>
          <a:noFill/>
        </p:spPr>
        <p:txBody>
          <a:bodyPr wrap="square">
            <a:spAutoFit/>
          </a:bodyPr>
          <a:lstStyle/>
          <a:p>
            <a:pPr marL="285750" indent="-285750">
              <a:buFont typeface="Arial" panose="020B0604020202020204" pitchFamily="34" charset="0"/>
              <a:buChar char="•"/>
            </a:pPr>
            <a:r>
              <a:rPr lang="vi-VN" sz="1600"/>
              <a:t>Chức năng tài khoản</a:t>
            </a:r>
          </a:p>
          <a:p>
            <a:pPr marL="285750" indent="-285750">
              <a:buFont typeface="Arial" panose="020B0604020202020204" pitchFamily="34" charset="0"/>
              <a:buChar char="•"/>
            </a:pPr>
            <a:r>
              <a:rPr lang="vi-VN" sz="1600"/>
              <a:t>Chức năng người dùng</a:t>
            </a:r>
          </a:p>
          <a:p>
            <a:pPr marL="285750" indent="-285750">
              <a:buFont typeface="Arial" panose="020B0604020202020204" pitchFamily="34" charset="0"/>
              <a:buChar char="•"/>
            </a:pPr>
            <a:r>
              <a:rPr lang="vi-VN" sz="1600"/>
              <a:t>Quản lý đơn hàng</a:t>
            </a:r>
          </a:p>
          <a:p>
            <a:pPr marL="285750" indent="-285750">
              <a:buFont typeface="Arial" panose="020B0604020202020204" pitchFamily="34" charset="0"/>
              <a:buChar char="•"/>
            </a:pPr>
            <a:r>
              <a:rPr lang="vi-VN" sz="1600"/>
              <a:t>Thiết kế UI/UX (Figma)</a:t>
            </a:r>
          </a:p>
          <a:p>
            <a:pPr marL="285750" indent="-285750">
              <a:buFont typeface="Arial" panose="020B0604020202020204" pitchFamily="34" charset="0"/>
              <a:buChar char="•"/>
            </a:pPr>
            <a:r>
              <a:rPr lang="vi-VN" sz="1600"/>
              <a:t>Slide và thuyết trình.</a:t>
            </a:r>
            <a:endParaRPr lang="vi-VN" sz="1200"/>
          </a:p>
          <a:p>
            <a:pPr marL="285750" indent="-285750">
              <a:buFont typeface="Arial" panose="020B0604020202020204" pitchFamily="34" charset="0"/>
              <a:buChar char="•"/>
            </a:pPr>
            <a:endParaRPr lang="vi-VN"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5" name="Google Shape;135;p16" descr="image.png"/>
          <p:cNvPicPr preferRelativeResize="0"/>
          <p:nvPr/>
        </p:nvPicPr>
        <p:blipFill rotWithShape="1">
          <a:blip r:embed="rId4">
            <a:alphaModFix/>
          </a:blip>
          <a:srcRect/>
          <a:stretch/>
        </p:blipFill>
        <p:spPr>
          <a:xfrm>
            <a:off x="571500" y="2057400"/>
            <a:ext cx="11049000" cy="3810000"/>
          </a:xfrm>
          <a:prstGeom prst="rect">
            <a:avLst/>
          </a:prstGeom>
          <a:noFill/>
          <a:ln>
            <a:noFill/>
          </a:ln>
        </p:spPr>
      </p:pic>
      <p:sp>
        <p:nvSpPr>
          <p:cNvPr id="137" name="Google Shape;137;p16"/>
          <p:cNvSpPr txBox="1"/>
          <p:nvPr/>
        </p:nvSpPr>
        <p:spPr>
          <a:xfrm>
            <a:off x="3320653" y="1562100"/>
            <a:ext cx="5550693"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5D4037"/>
                </a:solidFill>
                <a:latin typeface="Arial" panose="020B0604020202020204" pitchFamily="34" charset="0"/>
                <a:ea typeface="Playfair Display"/>
                <a:cs typeface="Arial" panose="020B0604020202020204" pitchFamily="34" charset="0"/>
                <a:sym typeface="Playfair Display"/>
              </a:rPr>
              <a:t>Bản vẽ Figma</a:t>
            </a:r>
            <a:endParaRPr>
              <a:latin typeface="Arial" panose="020B0604020202020204" pitchFamily="34" charset="0"/>
              <a:cs typeface="Arial" panose="020B0604020202020204" pitchFamily="34" charset="0"/>
            </a:endParaRPr>
          </a:p>
        </p:txBody>
      </p:sp>
      <p:sp>
        <p:nvSpPr>
          <p:cNvPr id="138" name="Google Shape;138;p16"/>
          <p:cNvSpPr txBox="1"/>
          <p:nvPr/>
        </p:nvSpPr>
        <p:spPr>
          <a:xfrm>
            <a:off x="3452811" y="5962650"/>
            <a:ext cx="5286375" cy="36933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1" u="none" strike="noStrike" cap="none">
                <a:solidFill>
                  <a:srgbClr val="4E342E"/>
                </a:solidFill>
                <a:latin typeface="Arial" panose="020B0604020202020204" pitchFamily="34" charset="0"/>
                <a:ea typeface="Lato"/>
                <a:cs typeface="Arial" panose="020B0604020202020204" pitchFamily="34" charset="0"/>
                <a:sym typeface="Lato"/>
              </a:rPr>
              <a:t>Ý tưởng ban đầu</a:t>
            </a:r>
            <a:endParaRPr>
              <a:latin typeface="Arial" panose="020B0604020202020204" pitchFamily="34" charset="0"/>
              <a:cs typeface="Arial" panose="020B0604020202020204" pitchFamily="34" charset="0"/>
            </a:endParaRPr>
          </a:p>
        </p:txBody>
      </p:sp>
      <p:sp>
        <p:nvSpPr>
          <p:cNvPr id="143" name="Google Shape;143;p16"/>
          <p:cNvSpPr txBox="1"/>
          <p:nvPr/>
        </p:nvSpPr>
        <p:spPr>
          <a:xfrm>
            <a:off x="571500" y="40005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Thiết Kế</a:t>
            </a:r>
            <a:endParaRPr>
              <a:latin typeface="Arial" panose="020B0604020202020204" pitchFamily="34" charset="0"/>
              <a:cs typeface="Arial" panose="020B0604020202020204" pitchFamily="34" charset="0"/>
            </a:endParaRPr>
          </a:p>
        </p:txBody>
      </p:sp>
      <p:sp>
        <p:nvSpPr>
          <p:cNvPr id="144" name="Google Shape;144;p16"/>
          <p:cNvSpPr/>
          <p:nvPr/>
        </p:nvSpPr>
        <p:spPr>
          <a:xfrm>
            <a:off x="571500" y="1152525"/>
            <a:ext cx="11049000" cy="28575"/>
          </a:xfrm>
          <a:prstGeom prst="rect">
            <a:avLst/>
          </a:prstGeom>
          <a:solidFill>
            <a:srgbClr val="8D6E6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pitchFamily="34" charset="0"/>
              <a:ea typeface="Calibri"/>
              <a:cs typeface="Arial" panose="020B0604020202020204" pitchFamily="34" charset="0"/>
              <a:sym typeface="Calibri"/>
            </a:endParaRPr>
          </a:p>
        </p:txBody>
      </p:sp>
      <p:pic>
        <p:nvPicPr>
          <p:cNvPr id="4" name="Hình ảnh 3" descr="Ảnh có chứa văn bản, ảnh chụp màn hình, thiết kế&#10;&#10;Nội dung do AI tạo ra có thể không chính xác.">
            <a:extLst>
              <a:ext uri="{FF2B5EF4-FFF2-40B4-BE49-F238E27FC236}">
                <a16:creationId xmlns:a16="http://schemas.microsoft.com/office/drawing/2014/main" id="{92C4134B-EE8C-C6BF-3C61-C458A6A05616}"/>
              </a:ext>
            </a:extLst>
          </p:cNvPr>
          <p:cNvPicPr>
            <a:picLocks noChangeAspect="1"/>
          </p:cNvPicPr>
          <p:nvPr/>
        </p:nvPicPr>
        <p:blipFill>
          <a:blip r:embed="rId5"/>
          <a:stretch>
            <a:fillRect/>
          </a:stretch>
        </p:blipFill>
        <p:spPr>
          <a:xfrm>
            <a:off x="1199208" y="2380222"/>
            <a:ext cx="1415758" cy="3087471"/>
          </a:xfrm>
          <a:prstGeom prst="rect">
            <a:avLst/>
          </a:prstGeom>
        </p:spPr>
      </p:pic>
      <p:pic>
        <p:nvPicPr>
          <p:cNvPr id="6" name="Hình ảnh 5" descr="Ảnh có chứa văn bản, ảnh chụp màn hình, Website, Trang web&#10;&#10;Nội dung do AI tạo ra có thể không chính xác.">
            <a:extLst>
              <a:ext uri="{FF2B5EF4-FFF2-40B4-BE49-F238E27FC236}">
                <a16:creationId xmlns:a16="http://schemas.microsoft.com/office/drawing/2014/main" id="{11AF7B1D-A247-D6D2-4B1E-DFD4544AEE0F}"/>
              </a:ext>
            </a:extLst>
          </p:cNvPr>
          <p:cNvPicPr>
            <a:picLocks noChangeAspect="1"/>
          </p:cNvPicPr>
          <p:nvPr/>
        </p:nvPicPr>
        <p:blipFill>
          <a:blip r:embed="rId6"/>
          <a:stretch>
            <a:fillRect/>
          </a:stretch>
        </p:blipFill>
        <p:spPr>
          <a:xfrm>
            <a:off x="2811379" y="2380222"/>
            <a:ext cx="1480518" cy="3087471"/>
          </a:xfrm>
          <a:prstGeom prst="rect">
            <a:avLst/>
          </a:prstGeom>
        </p:spPr>
      </p:pic>
      <p:pic>
        <p:nvPicPr>
          <p:cNvPr id="8" name="Hình ảnh 7" descr="Ảnh có chứa văn bản, ảnh chụp màn hình, Trang web, Website&#10;&#10;Nội dung do AI tạo ra có thể không chính xác.">
            <a:extLst>
              <a:ext uri="{FF2B5EF4-FFF2-40B4-BE49-F238E27FC236}">
                <a16:creationId xmlns:a16="http://schemas.microsoft.com/office/drawing/2014/main" id="{ED2CC5F9-10A4-C577-EEA4-4F2B384AFA32}"/>
              </a:ext>
            </a:extLst>
          </p:cNvPr>
          <p:cNvPicPr>
            <a:picLocks noChangeAspect="1"/>
          </p:cNvPicPr>
          <p:nvPr/>
        </p:nvPicPr>
        <p:blipFill>
          <a:blip r:embed="rId7"/>
          <a:stretch>
            <a:fillRect/>
          </a:stretch>
        </p:blipFill>
        <p:spPr>
          <a:xfrm>
            <a:off x="6117052" y="2380222"/>
            <a:ext cx="1477944" cy="3086724"/>
          </a:xfrm>
          <a:prstGeom prst="rect">
            <a:avLst/>
          </a:prstGeom>
        </p:spPr>
      </p:pic>
      <p:pic>
        <p:nvPicPr>
          <p:cNvPr id="16" name="Hình ảnh 15" descr="Ảnh có chứa văn bản, ảnh chụp màn hình, Website, Trang web&#10;&#10;Nội dung do AI tạo ra có thể không chính xác.">
            <a:extLst>
              <a:ext uri="{FF2B5EF4-FFF2-40B4-BE49-F238E27FC236}">
                <a16:creationId xmlns:a16="http://schemas.microsoft.com/office/drawing/2014/main" id="{C6239873-7ADE-979B-4FAB-29C0F3B3990D}"/>
              </a:ext>
            </a:extLst>
          </p:cNvPr>
          <p:cNvPicPr>
            <a:picLocks noChangeAspect="1"/>
          </p:cNvPicPr>
          <p:nvPr/>
        </p:nvPicPr>
        <p:blipFill>
          <a:blip r:embed="rId8"/>
          <a:stretch>
            <a:fillRect/>
          </a:stretch>
        </p:blipFill>
        <p:spPr>
          <a:xfrm>
            <a:off x="4488310" y="2380222"/>
            <a:ext cx="1432329" cy="3086724"/>
          </a:xfrm>
          <a:prstGeom prst="rect">
            <a:avLst/>
          </a:prstGeom>
        </p:spPr>
      </p:pic>
      <p:pic>
        <p:nvPicPr>
          <p:cNvPr id="18" name="Hình ảnh 17" descr="Ảnh có chứa văn bản, ảnh chụp màn hình, Phông chữ, thiết kế&#10;&#10;Nội dung do AI tạo ra có thể không chính xác.">
            <a:extLst>
              <a:ext uri="{FF2B5EF4-FFF2-40B4-BE49-F238E27FC236}">
                <a16:creationId xmlns:a16="http://schemas.microsoft.com/office/drawing/2014/main" id="{5FA5AC16-47BF-7250-6A22-8A4AB36DC779}"/>
              </a:ext>
            </a:extLst>
          </p:cNvPr>
          <p:cNvPicPr>
            <a:picLocks noChangeAspect="1"/>
          </p:cNvPicPr>
          <p:nvPr/>
        </p:nvPicPr>
        <p:blipFill>
          <a:blip r:embed="rId9"/>
          <a:stretch>
            <a:fillRect/>
          </a:stretch>
        </p:blipFill>
        <p:spPr>
          <a:xfrm>
            <a:off x="7791409" y="2380222"/>
            <a:ext cx="1494053" cy="3086724"/>
          </a:xfrm>
          <a:prstGeom prst="rect">
            <a:avLst/>
          </a:prstGeom>
        </p:spPr>
      </p:pic>
      <p:pic>
        <p:nvPicPr>
          <p:cNvPr id="20" name="Hình ảnh 19" descr="Ảnh có chứa văn bản, ảnh chụp màn hình, phần mềm&#10;&#10;Nội dung do AI tạo ra có thể không chính xác.">
            <a:extLst>
              <a:ext uri="{FF2B5EF4-FFF2-40B4-BE49-F238E27FC236}">
                <a16:creationId xmlns:a16="http://schemas.microsoft.com/office/drawing/2014/main" id="{5CA6730C-CAD6-83C9-449F-6DD3D82A5D24}"/>
              </a:ext>
            </a:extLst>
          </p:cNvPr>
          <p:cNvPicPr>
            <a:picLocks noChangeAspect="1"/>
          </p:cNvPicPr>
          <p:nvPr/>
        </p:nvPicPr>
        <p:blipFill>
          <a:blip r:embed="rId10"/>
          <a:stretch>
            <a:fillRect/>
          </a:stretch>
        </p:blipFill>
        <p:spPr>
          <a:xfrm>
            <a:off x="9485787" y="2380222"/>
            <a:ext cx="1490142" cy="30867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1AF9C78C-4941-B834-54F6-4FBBEDFFDD69}"/>
            </a:ext>
          </a:extLst>
        </p:cNvPr>
        <p:cNvGrpSpPr/>
        <p:nvPr/>
      </p:nvGrpSpPr>
      <p:grpSpPr>
        <a:xfrm>
          <a:off x="0" y="0"/>
          <a:ext cx="0" cy="0"/>
          <a:chOff x="0" y="0"/>
          <a:chExt cx="0" cy="0"/>
        </a:xfrm>
      </p:grpSpPr>
      <p:pic>
        <p:nvPicPr>
          <p:cNvPr id="134" name="Google Shape;134;p16" descr="image.png">
            <a:extLst>
              <a:ext uri="{FF2B5EF4-FFF2-40B4-BE49-F238E27FC236}">
                <a16:creationId xmlns:a16="http://schemas.microsoft.com/office/drawing/2014/main" id="{9B8FE7D9-AC2B-CACF-B63C-46FF03403E7E}"/>
              </a:ext>
            </a:extLst>
          </p:cNvPr>
          <p:cNvPicPr preferRelativeResize="0"/>
          <p:nvPr/>
        </p:nvPicPr>
        <p:blipFill rotWithShape="1">
          <a:blip r:embed="rId3">
            <a:alphaModFix/>
          </a:blip>
          <a:srcRect/>
          <a:stretch/>
        </p:blipFill>
        <p:spPr>
          <a:xfrm>
            <a:off x="256032" y="0"/>
            <a:ext cx="12192000" cy="6858000"/>
          </a:xfrm>
          <a:prstGeom prst="rect">
            <a:avLst/>
          </a:prstGeom>
          <a:noFill/>
          <a:ln>
            <a:noFill/>
          </a:ln>
        </p:spPr>
      </p:pic>
      <p:pic>
        <p:nvPicPr>
          <p:cNvPr id="136" name="Google Shape;136;p16" descr="image.png">
            <a:extLst>
              <a:ext uri="{FF2B5EF4-FFF2-40B4-BE49-F238E27FC236}">
                <a16:creationId xmlns:a16="http://schemas.microsoft.com/office/drawing/2014/main" id="{F48B6BD8-41E1-6A20-CA74-D979B658DF01}"/>
              </a:ext>
            </a:extLst>
          </p:cNvPr>
          <p:cNvPicPr preferRelativeResize="0"/>
          <p:nvPr/>
        </p:nvPicPr>
        <p:blipFill rotWithShape="1">
          <a:blip r:embed="rId4">
            <a:alphaModFix/>
          </a:blip>
          <a:srcRect/>
          <a:stretch/>
        </p:blipFill>
        <p:spPr>
          <a:xfrm>
            <a:off x="571501" y="2057400"/>
            <a:ext cx="11049000" cy="3810000"/>
          </a:xfrm>
          <a:prstGeom prst="rect">
            <a:avLst/>
          </a:prstGeom>
          <a:noFill/>
          <a:ln>
            <a:noFill/>
          </a:ln>
        </p:spPr>
      </p:pic>
      <p:sp>
        <p:nvSpPr>
          <p:cNvPr id="139" name="Google Shape;139;p16">
            <a:extLst>
              <a:ext uri="{FF2B5EF4-FFF2-40B4-BE49-F238E27FC236}">
                <a16:creationId xmlns:a16="http://schemas.microsoft.com/office/drawing/2014/main" id="{2EA7AB0C-FF69-6CD4-1FAD-53386EE598C1}"/>
              </a:ext>
            </a:extLst>
          </p:cNvPr>
          <p:cNvSpPr txBox="1"/>
          <p:nvPr/>
        </p:nvSpPr>
        <p:spPr>
          <a:xfrm>
            <a:off x="3320653" y="1562100"/>
            <a:ext cx="5550693"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vi-VN" sz="2100" b="1">
                <a:solidFill>
                  <a:srgbClr val="5D4037"/>
                </a:solidFill>
                <a:latin typeface="Arial" panose="020B0604020202020204" pitchFamily="34" charset="0"/>
                <a:cs typeface="Arial" panose="020B0604020202020204" pitchFamily="34" charset="0"/>
                <a:sym typeface="Playfair Display"/>
              </a:rPr>
              <a:t>Ứng dụng</a:t>
            </a:r>
            <a:endParaRPr>
              <a:latin typeface="Arial" panose="020B0604020202020204" pitchFamily="34" charset="0"/>
              <a:cs typeface="Arial" panose="020B0604020202020204" pitchFamily="34" charset="0"/>
            </a:endParaRPr>
          </a:p>
        </p:txBody>
      </p:sp>
      <p:sp>
        <p:nvSpPr>
          <p:cNvPr id="143" name="Google Shape;143;p16">
            <a:extLst>
              <a:ext uri="{FF2B5EF4-FFF2-40B4-BE49-F238E27FC236}">
                <a16:creationId xmlns:a16="http://schemas.microsoft.com/office/drawing/2014/main" id="{DA8D326C-E19A-41C5-0D60-6D3BAB88F68D}"/>
              </a:ext>
            </a:extLst>
          </p:cNvPr>
          <p:cNvSpPr txBox="1"/>
          <p:nvPr/>
        </p:nvSpPr>
        <p:spPr>
          <a:xfrm>
            <a:off x="571500" y="40005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Thực </a:t>
            </a:r>
            <a:r>
              <a:rPr lang="vi-VN" sz="36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Tế</a:t>
            </a:r>
            <a:endParaRPr>
              <a:latin typeface="Arial" panose="020B0604020202020204" pitchFamily="34" charset="0"/>
              <a:cs typeface="Arial" panose="020B0604020202020204" pitchFamily="34" charset="0"/>
            </a:endParaRPr>
          </a:p>
        </p:txBody>
      </p:sp>
      <p:sp>
        <p:nvSpPr>
          <p:cNvPr id="144" name="Google Shape;144;p16">
            <a:extLst>
              <a:ext uri="{FF2B5EF4-FFF2-40B4-BE49-F238E27FC236}">
                <a16:creationId xmlns:a16="http://schemas.microsoft.com/office/drawing/2014/main" id="{53990246-AF28-3C77-C99F-400B2B1163BE}"/>
              </a:ext>
            </a:extLst>
          </p:cNvPr>
          <p:cNvSpPr/>
          <p:nvPr/>
        </p:nvSpPr>
        <p:spPr>
          <a:xfrm>
            <a:off x="571500" y="1152525"/>
            <a:ext cx="11049000" cy="28575"/>
          </a:xfrm>
          <a:prstGeom prst="rect">
            <a:avLst/>
          </a:prstGeom>
          <a:solidFill>
            <a:srgbClr val="8D6E6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pitchFamily="34" charset="0"/>
              <a:ea typeface="Calibri"/>
              <a:cs typeface="Arial" panose="020B0604020202020204" pitchFamily="34" charset="0"/>
              <a:sym typeface="Calibri"/>
            </a:endParaRPr>
          </a:p>
        </p:txBody>
      </p:sp>
      <p:sp>
        <p:nvSpPr>
          <p:cNvPr id="2" name="Google Shape;138;p16">
            <a:extLst>
              <a:ext uri="{FF2B5EF4-FFF2-40B4-BE49-F238E27FC236}">
                <a16:creationId xmlns:a16="http://schemas.microsoft.com/office/drawing/2014/main" id="{EEF78478-3C50-9CEB-D7CA-80FA1B29BCF4}"/>
              </a:ext>
            </a:extLst>
          </p:cNvPr>
          <p:cNvSpPr txBox="1"/>
          <p:nvPr/>
        </p:nvSpPr>
        <p:spPr>
          <a:xfrm>
            <a:off x="3452811" y="5962650"/>
            <a:ext cx="5286375" cy="36933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vi-VN" sz="1500" i="1">
                <a:solidFill>
                  <a:srgbClr val="4E342E"/>
                </a:solidFill>
                <a:latin typeface="Arial" panose="020B0604020202020204" pitchFamily="34" charset="0"/>
                <a:ea typeface="Lato"/>
                <a:cs typeface="Arial" panose="020B0604020202020204" pitchFamily="34" charset="0"/>
                <a:sym typeface="Lato"/>
              </a:rPr>
              <a:t>Kết quả</a:t>
            </a:r>
            <a:endParaRPr>
              <a:latin typeface="Arial" panose="020B0604020202020204" pitchFamily="34" charset="0"/>
              <a:cs typeface="Arial" panose="020B0604020202020204" pitchFamily="34" charset="0"/>
            </a:endParaRPr>
          </a:p>
        </p:txBody>
      </p:sp>
      <p:pic>
        <p:nvPicPr>
          <p:cNvPr id="10" name="Hình ảnh 9">
            <a:extLst>
              <a:ext uri="{FF2B5EF4-FFF2-40B4-BE49-F238E27FC236}">
                <a16:creationId xmlns:a16="http://schemas.microsoft.com/office/drawing/2014/main" id="{E40DD746-C085-0730-8205-5621BF3FAB79}"/>
              </a:ext>
            </a:extLst>
          </p:cNvPr>
          <p:cNvPicPr>
            <a:picLocks noChangeAspect="1"/>
          </p:cNvPicPr>
          <p:nvPr/>
        </p:nvPicPr>
        <p:blipFill>
          <a:blip r:embed="rId5"/>
          <a:srcRect t="52"/>
          <a:stretch>
            <a:fillRect/>
          </a:stretch>
        </p:blipFill>
        <p:spPr>
          <a:xfrm>
            <a:off x="1128028" y="2417294"/>
            <a:ext cx="1525895" cy="3087471"/>
          </a:xfrm>
          <a:prstGeom prst="rect">
            <a:avLst/>
          </a:prstGeom>
        </p:spPr>
      </p:pic>
      <p:pic>
        <p:nvPicPr>
          <p:cNvPr id="12" name="Hình ảnh 11">
            <a:extLst>
              <a:ext uri="{FF2B5EF4-FFF2-40B4-BE49-F238E27FC236}">
                <a16:creationId xmlns:a16="http://schemas.microsoft.com/office/drawing/2014/main" id="{AEEFFF46-407B-565F-6EE9-88E99BF45E75}"/>
              </a:ext>
            </a:extLst>
          </p:cNvPr>
          <p:cNvPicPr>
            <a:picLocks noChangeAspect="1"/>
          </p:cNvPicPr>
          <p:nvPr/>
        </p:nvPicPr>
        <p:blipFill>
          <a:blip r:embed="rId6"/>
          <a:stretch>
            <a:fillRect/>
          </a:stretch>
        </p:blipFill>
        <p:spPr>
          <a:xfrm>
            <a:off x="2846334" y="2417294"/>
            <a:ext cx="1460702" cy="3087471"/>
          </a:xfrm>
          <a:prstGeom prst="rect">
            <a:avLst/>
          </a:prstGeom>
        </p:spPr>
      </p:pic>
      <p:pic>
        <p:nvPicPr>
          <p:cNvPr id="14" name="Hình ảnh 13">
            <a:extLst>
              <a:ext uri="{FF2B5EF4-FFF2-40B4-BE49-F238E27FC236}">
                <a16:creationId xmlns:a16="http://schemas.microsoft.com/office/drawing/2014/main" id="{987B9832-84A6-98F8-2DFC-7CD5C4C59CF6}"/>
              </a:ext>
            </a:extLst>
          </p:cNvPr>
          <p:cNvPicPr>
            <a:picLocks noChangeAspect="1"/>
          </p:cNvPicPr>
          <p:nvPr/>
        </p:nvPicPr>
        <p:blipFill>
          <a:blip r:embed="rId7"/>
          <a:stretch>
            <a:fillRect/>
          </a:stretch>
        </p:blipFill>
        <p:spPr>
          <a:xfrm>
            <a:off x="6172081" y="2417292"/>
            <a:ext cx="1481037" cy="3087471"/>
          </a:xfrm>
          <a:prstGeom prst="rect">
            <a:avLst/>
          </a:prstGeom>
        </p:spPr>
      </p:pic>
      <p:pic>
        <p:nvPicPr>
          <p:cNvPr id="5" name="Hình ảnh 4">
            <a:extLst>
              <a:ext uri="{FF2B5EF4-FFF2-40B4-BE49-F238E27FC236}">
                <a16:creationId xmlns:a16="http://schemas.microsoft.com/office/drawing/2014/main" id="{7EB32B79-BB12-A2A9-4623-BBFFE1D8DEC0}"/>
              </a:ext>
            </a:extLst>
          </p:cNvPr>
          <p:cNvPicPr>
            <a:picLocks noChangeAspect="1"/>
          </p:cNvPicPr>
          <p:nvPr/>
        </p:nvPicPr>
        <p:blipFill>
          <a:blip r:embed="rId8"/>
          <a:stretch>
            <a:fillRect/>
          </a:stretch>
        </p:blipFill>
        <p:spPr>
          <a:xfrm>
            <a:off x="4499447" y="2417291"/>
            <a:ext cx="1474259" cy="3087471"/>
          </a:xfrm>
          <a:prstGeom prst="rect">
            <a:avLst/>
          </a:prstGeom>
        </p:spPr>
      </p:pic>
      <p:pic>
        <p:nvPicPr>
          <p:cNvPr id="9" name="Hình ảnh 8">
            <a:extLst>
              <a:ext uri="{FF2B5EF4-FFF2-40B4-BE49-F238E27FC236}">
                <a16:creationId xmlns:a16="http://schemas.microsoft.com/office/drawing/2014/main" id="{48349BDA-4113-E05F-EBD9-BA7DB650F8F0}"/>
              </a:ext>
            </a:extLst>
          </p:cNvPr>
          <p:cNvPicPr>
            <a:picLocks noChangeAspect="1"/>
          </p:cNvPicPr>
          <p:nvPr/>
        </p:nvPicPr>
        <p:blipFill>
          <a:blip r:embed="rId9"/>
          <a:stretch>
            <a:fillRect/>
          </a:stretch>
        </p:blipFill>
        <p:spPr>
          <a:xfrm>
            <a:off x="7851493" y="2417291"/>
            <a:ext cx="1464092" cy="3087471"/>
          </a:xfrm>
          <a:prstGeom prst="rect">
            <a:avLst/>
          </a:prstGeom>
        </p:spPr>
      </p:pic>
      <p:pic>
        <p:nvPicPr>
          <p:cNvPr id="13" name="Hình ảnh 12">
            <a:extLst>
              <a:ext uri="{FF2B5EF4-FFF2-40B4-BE49-F238E27FC236}">
                <a16:creationId xmlns:a16="http://schemas.microsoft.com/office/drawing/2014/main" id="{F8257ACD-8BAF-D4E1-6C56-09DD2A3AF7B1}"/>
              </a:ext>
            </a:extLst>
          </p:cNvPr>
          <p:cNvPicPr>
            <a:picLocks noChangeAspect="1"/>
          </p:cNvPicPr>
          <p:nvPr/>
        </p:nvPicPr>
        <p:blipFill>
          <a:blip r:embed="rId10"/>
          <a:stretch>
            <a:fillRect/>
          </a:stretch>
        </p:blipFill>
        <p:spPr>
          <a:xfrm>
            <a:off x="9513960" y="2417291"/>
            <a:ext cx="1525096" cy="3087471"/>
          </a:xfrm>
          <a:prstGeom prst="rect">
            <a:avLst/>
          </a:prstGeom>
        </p:spPr>
      </p:pic>
    </p:spTree>
    <p:extLst>
      <p:ext uri="{BB962C8B-B14F-4D97-AF65-F5344CB8AC3E}">
        <p14:creationId xmlns:p14="http://schemas.microsoft.com/office/powerpoint/2010/main" val="204292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1" name="Google Shape;151;p17"/>
          <p:cNvSpPr txBox="1"/>
          <p:nvPr/>
        </p:nvSpPr>
        <p:spPr>
          <a:xfrm>
            <a:off x="6810375" y="2078682"/>
            <a:ext cx="4810125" cy="1329595"/>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b="1" i="0" u="none" strike="noStrike" cap="none">
                <a:solidFill>
                  <a:srgbClr val="4E342E"/>
                </a:solidFill>
                <a:latin typeface="Arial" panose="020B0604020202020204" pitchFamily="34" charset="0"/>
                <a:ea typeface="Lato"/>
                <a:cs typeface="Arial" panose="020B0604020202020204" pitchFamily="34" charset="0"/>
                <a:sym typeface="Lato"/>
              </a:rPr>
              <a:t>Nhu cầu thị trường:</a:t>
            </a:r>
            <a:r>
              <a:rPr lang="en-US" b="0" i="0" u="none" strike="noStrike" cap="none">
                <a:solidFill>
                  <a:srgbClr val="4E342E"/>
                </a:solidFill>
                <a:latin typeface="Arial" panose="020B0604020202020204" pitchFamily="34" charset="0"/>
                <a:ea typeface="Lato"/>
                <a:cs typeface="Arial" panose="020B0604020202020204" pitchFamily="34" charset="0"/>
                <a:sym typeface="Lato"/>
              </a:rPr>
              <a:t> Xu hướng đặt đồ ăn, thức uống online ngày càng tăng cao trong đời sống hiện đại.</a:t>
            </a:r>
            <a:endParaRPr>
              <a:latin typeface="Arial" panose="020B0604020202020204" pitchFamily="34" charset="0"/>
              <a:cs typeface="Arial" panose="020B0604020202020204" pitchFamily="34" charset="0"/>
            </a:endParaRPr>
          </a:p>
        </p:txBody>
      </p:sp>
      <p:sp>
        <p:nvSpPr>
          <p:cNvPr id="152" name="Google Shape;152;p17"/>
          <p:cNvSpPr txBox="1"/>
          <p:nvPr/>
        </p:nvSpPr>
        <p:spPr>
          <a:xfrm>
            <a:off x="6810375" y="3366194"/>
            <a:ext cx="4810125" cy="1329595"/>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b="1" i="0" u="none" strike="noStrike" cap="none">
                <a:solidFill>
                  <a:srgbClr val="4E342E"/>
                </a:solidFill>
                <a:latin typeface="Arial" panose="020B0604020202020204" pitchFamily="34" charset="0"/>
                <a:ea typeface="Lato"/>
                <a:cs typeface="Arial" panose="020B0604020202020204" pitchFamily="34" charset="0"/>
                <a:sym typeface="Lato"/>
              </a:rPr>
              <a:t>Trải nghiệm Cashless:</a:t>
            </a:r>
            <a:r>
              <a:rPr lang="en-US" b="0" i="0" u="none" strike="noStrike" cap="none">
                <a:solidFill>
                  <a:srgbClr val="4E342E"/>
                </a:solidFill>
                <a:latin typeface="Arial" panose="020B0604020202020204" pitchFamily="34" charset="0"/>
                <a:ea typeface="Lato"/>
                <a:cs typeface="Arial" panose="020B0604020202020204" pitchFamily="34" charset="0"/>
                <a:sym typeface="Lato"/>
              </a:rPr>
              <a:t> Mong muốn xây dựng quy trình thanh toán không tiền mặt tiện lợi và an toàn.</a:t>
            </a:r>
            <a:endParaRPr>
              <a:latin typeface="Arial" panose="020B0604020202020204" pitchFamily="34" charset="0"/>
              <a:cs typeface="Arial" panose="020B0604020202020204" pitchFamily="34" charset="0"/>
            </a:endParaRPr>
          </a:p>
        </p:txBody>
      </p:sp>
      <p:sp>
        <p:nvSpPr>
          <p:cNvPr id="153" name="Google Shape;153;p17"/>
          <p:cNvSpPr txBox="1"/>
          <p:nvPr/>
        </p:nvSpPr>
        <p:spPr>
          <a:xfrm>
            <a:off x="6810375" y="4653706"/>
            <a:ext cx="4810125" cy="1329595"/>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b="1" i="0" u="none" strike="noStrike" cap="none">
                <a:solidFill>
                  <a:srgbClr val="4E342E"/>
                </a:solidFill>
                <a:latin typeface="Arial" panose="020B0604020202020204" pitchFamily="34" charset="0"/>
                <a:ea typeface="Lato"/>
                <a:cs typeface="Arial" panose="020B0604020202020204" pitchFamily="34" charset="0"/>
                <a:sym typeface="Lato"/>
              </a:rPr>
              <a:t>Thử thách kỹ thuật:</a:t>
            </a:r>
            <a:r>
              <a:rPr lang="en-US" b="0" i="0" u="none" strike="noStrike" cap="none">
                <a:solidFill>
                  <a:srgbClr val="4E342E"/>
                </a:solidFill>
                <a:latin typeface="Arial" panose="020B0604020202020204" pitchFamily="34" charset="0"/>
                <a:ea typeface="Lato"/>
                <a:cs typeface="Arial" panose="020B0604020202020204" pitchFamily="34" charset="0"/>
                <a:sym typeface="Lato"/>
              </a:rPr>
              <a:t> Áp dụng các kiến thức Lập trình Mobile nâng cao (MVVM, Coroutines, Maps) vào thực tế.</a:t>
            </a:r>
            <a:endParaRPr>
              <a:latin typeface="Arial" panose="020B0604020202020204" pitchFamily="34" charset="0"/>
              <a:cs typeface="Arial" panose="020B0604020202020204" pitchFamily="34" charset="0"/>
            </a:endParaRPr>
          </a:p>
        </p:txBody>
      </p:sp>
      <p:pic>
        <p:nvPicPr>
          <p:cNvPr id="154" name="Google Shape;154;p17" descr="image.png"/>
          <p:cNvPicPr preferRelativeResize="0"/>
          <p:nvPr/>
        </p:nvPicPr>
        <p:blipFill rotWithShape="1">
          <a:blip r:embed="rId4">
            <a:alphaModFix/>
          </a:blip>
          <a:srcRect/>
          <a:stretch/>
        </p:blipFill>
        <p:spPr>
          <a:xfrm>
            <a:off x="6296025" y="2221259"/>
            <a:ext cx="304800" cy="276225"/>
          </a:xfrm>
          <a:prstGeom prst="rect">
            <a:avLst/>
          </a:prstGeom>
          <a:noFill/>
          <a:ln>
            <a:noFill/>
          </a:ln>
        </p:spPr>
      </p:pic>
      <p:pic>
        <p:nvPicPr>
          <p:cNvPr id="155" name="Google Shape;155;p17" descr="image.png"/>
          <p:cNvPicPr preferRelativeResize="0"/>
          <p:nvPr/>
        </p:nvPicPr>
        <p:blipFill rotWithShape="1">
          <a:blip r:embed="rId5">
            <a:alphaModFix/>
          </a:blip>
          <a:srcRect/>
          <a:stretch/>
        </p:blipFill>
        <p:spPr>
          <a:xfrm>
            <a:off x="6334125" y="3513237"/>
            <a:ext cx="266700" cy="276225"/>
          </a:xfrm>
          <a:prstGeom prst="rect">
            <a:avLst/>
          </a:prstGeom>
          <a:noFill/>
          <a:ln>
            <a:noFill/>
          </a:ln>
        </p:spPr>
      </p:pic>
      <p:pic>
        <p:nvPicPr>
          <p:cNvPr id="156" name="Google Shape;156;p17" descr="image.png"/>
          <p:cNvPicPr preferRelativeResize="0"/>
          <p:nvPr/>
        </p:nvPicPr>
        <p:blipFill rotWithShape="1">
          <a:blip r:embed="rId6">
            <a:alphaModFix/>
          </a:blip>
          <a:srcRect/>
          <a:stretch/>
        </p:blipFill>
        <p:spPr>
          <a:xfrm>
            <a:off x="6267450" y="4805215"/>
            <a:ext cx="333375" cy="276225"/>
          </a:xfrm>
          <a:prstGeom prst="rect">
            <a:avLst/>
          </a:prstGeom>
          <a:noFill/>
          <a:ln>
            <a:noFill/>
          </a:ln>
        </p:spPr>
      </p:pic>
      <p:sp>
        <p:nvSpPr>
          <p:cNvPr id="157" name="Google Shape;157;p17"/>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Lý Do Chọn Đề Tài</a:t>
            </a:r>
            <a:endParaRPr>
              <a:latin typeface="Arial" panose="020B0604020202020204" pitchFamily="34" charset="0"/>
              <a:cs typeface="Arial" panose="020B0604020202020204" pitchFamily="34" charset="0"/>
            </a:endParaRPr>
          </a:p>
        </p:txBody>
      </p:sp>
      <p:sp>
        <p:nvSpPr>
          <p:cNvPr id="158" name="Google Shape;158;p17"/>
          <p:cNvSpPr/>
          <p:nvPr/>
        </p:nvSpPr>
        <p:spPr>
          <a:xfrm>
            <a:off x="571500" y="1323975"/>
            <a:ext cx="11049000" cy="28575"/>
          </a:xfrm>
          <a:prstGeom prst="rect">
            <a:avLst/>
          </a:prstGeom>
          <a:solidFill>
            <a:srgbClr val="8D6E6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pitchFamily="34" charset="0"/>
              <a:ea typeface="Calibri"/>
              <a:cs typeface="Arial" panose="020B0604020202020204" pitchFamily="34" charset="0"/>
              <a:sym typeface="Calibri"/>
            </a:endParaRPr>
          </a:p>
        </p:txBody>
      </p:sp>
      <p:pic>
        <p:nvPicPr>
          <p:cNvPr id="2" name="Google Shape;150;p17" descr="image.png">
            <a:extLst>
              <a:ext uri="{FF2B5EF4-FFF2-40B4-BE49-F238E27FC236}">
                <a16:creationId xmlns:a16="http://schemas.microsoft.com/office/drawing/2014/main" id="{8F759F15-6643-D762-405C-97EDD664F6BE}"/>
              </a:ext>
            </a:extLst>
          </p:cNvPr>
          <p:cNvPicPr preferRelativeResize="0"/>
          <p:nvPr/>
        </p:nvPicPr>
        <p:blipFill rotWithShape="1">
          <a:blip r:embed="rId7">
            <a:alphaModFix/>
          </a:blip>
          <a:srcRect/>
          <a:stretch/>
        </p:blipFill>
        <p:spPr>
          <a:xfrm>
            <a:off x="500063" y="2255862"/>
            <a:ext cx="5334000" cy="3555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4" name="Google Shape;164;p18" descr="image.png"/>
          <p:cNvPicPr preferRelativeResize="0"/>
          <p:nvPr/>
        </p:nvPicPr>
        <p:blipFill rotWithShape="1">
          <a:blip r:embed="rId4">
            <a:alphaModFix/>
          </a:blip>
          <a:srcRect/>
          <a:stretch/>
        </p:blipFill>
        <p:spPr>
          <a:xfrm>
            <a:off x="571500" y="2452687"/>
            <a:ext cx="3492549" cy="3114675"/>
          </a:xfrm>
          <a:prstGeom prst="rect">
            <a:avLst/>
          </a:prstGeom>
          <a:noFill/>
          <a:ln>
            <a:noFill/>
          </a:ln>
        </p:spPr>
      </p:pic>
      <p:pic>
        <p:nvPicPr>
          <p:cNvPr id="165" name="Google Shape;165;p18" descr="image.png"/>
          <p:cNvPicPr preferRelativeResize="0"/>
          <p:nvPr/>
        </p:nvPicPr>
        <p:blipFill rotWithShape="1">
          <a:blip r:embed="rId5">
            <a:alphaModFix/>
          </a:blip>
          <a:srcRect/>
          <a:stretch/>
        </p:blipFill>
        <p:spPr>
          <a:xfrm>
            <a:off x="4349799" y="2452687"/>
            <a:ext cx="3492549" cy="3114675"/>
          </a:xfrm>
          <a:prstGeom prst="rect">
            <a:avLst/>
          </a:prstGeom>
          <a:noFill/>
          <a:ln>
            <a:noFill/>
          </a:ln>
        </p:spPr>
      </p:pic>
      <p:pic>
        <p:nvPicPr>
          <p:cNvPr id="166" name="Google Shape;166;p18" descr="image.png"/>
          <p:cNvPicPr preferRelativeResize="0"/>
          <p:nvPr/>
        </p:nvPicPr>
        <p:blipFill rotWithShape="1">
          <a:blip r:embed="rId6">
            <a:alphaModFix/>
          </a:blip>
          <a:srcRect/>
          <a:stretch/>
        </p:blipFill>
        <p:spPr>
          <a:xfrm>
            <a:off x="8128099" y="2452687"/>
            <a:ext cx="3492549" cy="3114675"/>
          </a:xfrm>
          <a:prstGeom prst="rect">
            <a:avLst/>
          </a:prstGeom>
          <a:noFill/>
          <a:ln>
            <a:noFill/>
          </a:ln>
        </p:spPr>
      </p:pic>
      <p:sp>
        <p:nvSpPr>
          <p:cNvPr id="167" name="Google Shape;167;p18"/>
          <p:cNvSpPr txBox="1"/>
          <p:nvPr/>
        </p:nvSpPr>
        <p:spPr>
          <a:xfrm>
            <a:off x="1757630" y="3481387"/>
            <a:ext cx="112014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5D4037"/>
                </a:solidFill>
                <a:latin typeface="Arial" panose="020B0604020202020204" pitchFamily="34" charset="0"/>
                <a:ea typeface="Playfair Display"/>
                <a:cs typeface="Arial" panose="020B0604020202020204" pitchFamily="34" charset="0"/>
                <a:sym typeface="Playfair Display"/>
              </a:rPr>
              <a:t>Đặt Món</a:t>
            </a:r>
            <a:endParaRPr>
              <a:latin typeface="Arial" panose="020B0604020202020204" pitchFamily="34" charset="0"/>
              <a:cs typeface="Arial" panose="020B0604020202020204" pitchFamily="34" charset="0"/>
            </a:endParaRPr>
          </a:p>
        </p:txBody>
      </p:sp>
      <p:sp>
        <p:nvSpPr>
          <p:cNvPr id="168" name="Google Shape;168;p18"/>
          <p:cNvSpPr txBox="1"/>
          <p:nvPr/>
        </p:nvSpPr>
        <p:spPr>
          <a:xfrm>
            <a:off x="866700" y="3996688"/>
            <a:ext cx="2901999" cy="738664"/>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E342E"/>
                </a:solidFill>
                <a:latin typeface="Arial" panose="020B0604020202020204" pitchFamily="34" charset="0"/>
                <a:ea typeface="Lato"/>
                <a:cs typeface="Arial" panose="020B0604020202020204" pitchFamily="34" charset="0"/>
                <a:sym typeface="Lato"/>
              </a:rPr>
              <a:t>Menu đa dạng, </a:t>
            </a:r>
            <a:r>
              <a:rPr lang="vi-VN" sz="1500">
                <a:solidFill>
                  <a:srgbClr val="4E342E"/>
                </a:solidFill>
                <a:latin typeface="Arial" panose="020B0604020202020204" pitchFamily="34" charset="0"/>
                <a:ea typeface="Lato"/>
                <a:cs typeface="Arial" panose="020B0604020202020204" pitchFamily="34" charset="0"/>
                <a:sym typeface="Lato"/>
              </a:rPr>
              <a:t>hình ảnh cụ thể</a:t>
            </a:r>
          </a:p>
          <a:p>
            <a:pPr marL="0" marR="0" lvl="0" indent="0" algn="ctr" rtl="0">
              <a:lnSpc>
                <a:spcPct val="160000"/>
              </a:lnSpc>
              <a:spcBef>
                <a:spcPts val="0"/>
              </a:spcBef>
              <a:spcAft>
                <a:spcPts val="0"/>
              </a:spcAft>
              <a:buNone/>
            </a:pPr>
            <a:r>
              <a:rPr lang="vi-VN" sz="1500">
                <a:solidFill>
                  <a:srgbClr val="4E342E"/>
                </a:solidFill>
                <a:latin typeface="Arial" panose="020B0604020202020204" pitchFamily="34" charset="0"/>
                <a:ea typeface="Lato"/>
                <a:cs typeface="Arial" panose="020B0604020202020204" pitchFamily="34" charset="0"/>
                <a:sym typeface="Lato"/>
              </a:rPr>
              <a:t>và quy trình rõ ràng</a:t>
            </a:r>
          </a:p>
        </p:txBody>
      </p:sp>
      <p:sp>
        <p:nvSpPr>
          <p:cNvPr id="169" name="Google Shape;169;p18"/>
          <p:cNvSpPr txBox="1"/>
          <p:nvPr/>
        </p:nvSpPr>
        <p:spPr>
          <a:xfrm>
            <a:off x="5310901" y="3481387"/>
            <a:ext cx="1570196"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5D4037"/>
                </a:solidFill>
                <a:latin typeface="Arial" panose="020B0604020202020204" pitchFamily="34" charset="0"/>
                <a:ea typeface="Playfair Display"/>
                <a:cs typeface="Arial" panose="020B0604020202020204" pitchFamily="34" charset="0"/>
                <a:sym typeface="Playfair Display"/>
              </a:rPr>
              <a:t>Thanh Toán</a:t>
            </a:r>
            <a:endParaRPr>
              <a:latin typeface="Arial" panose="020B0604020202020204" pitchFamily="34" charset="0"/>
              <a:cs typeface="Arial" panose="020B0604020202020204" pitchFamily="34" charset="0"/>
            </a:endParaRPr>
          </a:p>
        </p:txBody>
      </p:sp>
      <p:sp>
        <p:nvSpPr>
          <p:cNvPr id="170" name="Google Shape;170;p18"/>
          <p:cNvSpPr txBox="1"/>
          <p:nvPr/>
        </p:nvSpPr>
        <p:spPr>
          <a:xfrm>
            <a:off x="4644999" y="3998403"/>
            <a:ext cx="2901999" cy="11079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E342E"/>
                </a:solidFill>
                <a:latin typeface="Arial" panose="020B0604020202020204" pitchFamily="34" charset="0"/>
                <a:ea typeface="Lato"/>
                <a:cs typeface="Arial" panose="020B0604020202020204" pitchFamily="34" charset="0"/>
                <a:sym typeface="Lato"/>
              </a:rPr>
              <a:t>Hỗ trợ thanh toán đa kênh: </a:t>
            </a:r>
          </a:p>
          <a:p>
            <a:pPr marL="0" marR="0" lvl="0" indent="0" algn="ctr" rtl="0">
              <a:lnSpc>
                <a:spcPct val="160000"/>
              </a:lnSpc>
              <a:spcBef>
                <a:spcPts val="0"/>
              </a:spcBef>
              <a:spcAft>
                <a:spcPts val="0"/>
              </a:spcAft>
              <a:buNone/>
            </a:pPr>
            <a:r>
              <a:rPr lang="en-US" sz="1500" b="0" i="0" u="none" strike="noStrike" cap="none">
                <a:solidFill>
                  <a:srgbClr val="4E342E"/>
                </a:solidFill>
                <a:latin typeface="Arial" panose="020B0604020202020204" pitchFamily="34" charset="0"/>
                <a:ea typeface="Lato"/>
                <a:cs typeface="Arial" panose="020B0604020202020204" pitchFamily="34" charset="0"/>
                <a:sym typeface="Lato"/>
              </a:rPr>
              <a:t>Ví điện tử ZaloPay hoặc Tiền mặt (COD).</a:t>
            </a:r>
            <a:endParaRPr>
              <a:latin typeface="Arial" panose="020B0604020202020204" pitchFamily="34" charset="0"/>
              <a:cs typeface="Arial" panose="020B0604020202020204" pitchFamily="34" charset="0"/>
            </a:endParaRPr>
          </a:p>
        </p:txBody>
      </p:sp>
      <p:sp>
        <p:nvSpPr>
          <p:cNvPr id="171" name="Google Shape;171;p18"/>
          <p:cNvSpPr txBox="1"/>
          <p:nvPr/>
        </p:nvSpPr>
        <p:spPr>
          <a:xfrm>
            <a:off x="9284225" y="3481387"/>
            <a:ext cx="1180147"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5D4037"/>
                </a:solidFill>
                <a:latin typeface="Arial" panose="020B0604020202020204" pitchFamily="34" charset="0"/>
                <a:ea typeface="Playfair Display"/>
                <a:cs typeface="Arial" panose="020B0604020202020204" pitchFamily="34" charset="0"/>
                <a:sym typeface="Playfair Display"/>
              </a:rPr>
              <a:t>Tracking</a:t>
            </a:r>
            <a:endParaRPr>
              <a:latin typeface="Arial" panose="020B0604020202020204" pitchFamily="34" charset="0"/>
              <a:cs typeface="Arial" panose="020B0604020202020204" pitchFamily="34" charset="0"/>
            </a:endParaRPr>
          </a:p>
        </p:txBody>
      </p:sp>
      <p:sp>
        <p:nvSpPr>
          <p:cNvPr id="172" name="Google Shape;172;p18"/>
          <p:cNvSpPr txBox="1"/>
          <p:nvPr/>
        </p:nvSpPr>
        <p:spPr>
          <a:xfrm>
            <a:off x="8423298" y="3998403"/>
            <a:ext cx="2901999" cy="11079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E342E"/>
                </a:solidFill>
                <a:latin typeface="Arial" panose="020B0604020202020204" pitchFamily="34" charset="0"/>
                <a:ea typeface="Lato"/>
                <a:cs typeface="Arial" panose="020B0604020202020204" pitchFamily="34" charset="0"/>
                <a:sym typeface="Lato"/>
              </a:rPr>
              <a:t>Theo dõi trạng thái đơn hàng Realtime và định vị </a:t>
            </a:r>
            <a:r>
              <a:rPr lang="vi-VN" sz="1500">
                <a:solidFill>
                  <a:srgbClr val="4E342E"/>
                </a:solidFill>
                <a:latin typeface="Arial" panose="020B0604020202020204" pitchFamily="34" charset="0"/>
                <a:ea typeface="Lato"/>
                <a:cs typeface="Arial" panose="020B0604020202020204" pitchFamily="34" charset="0"/>
                <a:sym typeface="Lato"/>
              </a:rPr>
              <a:t>địa chỉ</a:t>
            </a:r>
            <a:r>
              <a:rPr lang="en-US" sz="1500" b="0" i="0" u="none" strike="noStrike" cap="none">
                <a:solidFill>
                  <a:srgbClr val="4E342E"/>
                </a:solidFill>
                <a:latin typeface="Arial" panose="020B0604020202020204" pitchFamily="34" charset="0"/>
                <a:ea typeface="Lato"/>
                <a:cs typeface="Arial" panose="020B0604020202020204" pitchFamily="34" charset="0"/>
                <a:sym typeface="Lato"/>
              </a:rPr>
              <a:t> trên bản đồ (OpenStreetMap).</a:t>
            </a:r>
            <a:endParaRPr>
              <a:latin typeface="Arial" panose="020B0604020202020204" pitchFamily="34" charset="0"/>
              <a:cs typeface="Arial" panose="020B0604020202020204" pitchFamily="34" charset="0"/>
            </a:endParaRPr>
          </a:p>
        </p:txBody>
      </p:sp>
      <p:pic>
        <p:nvPicPr>
          <p:cNvPr id="173" name="Google Shape;173;p18" descr="image.png"/>
          <p:cNvPicPr preferRelativeResize="0"/>
          <p:nvPr/>
        </p:nvPicPr>
        <p:blipFill rotWithShape="1">
          <a:blip r:embed="rId7">
            <a:alphaModFix/>
          </a:blip>
          <a:srcRect/>
          <a:stretch/>
        </p:blipFill>
        <p:spPr>
          <a:xfrm>
            <a:off x="2060525" y="2795587"/>
            <a:ext cx="514350" cy="457200"/>
          </a:xfrm>
          <a:prstGeom prst="rect">
            <a:avLst/>
          </a:prstGeom>
          <a:noFill/>
          <a:ln>
            <a:noFill/>
          </a:ln>
        </p:spPr>
      </p:pic>
      <p:pic>
        <p:nvPicPr>
          <p:cNvPr id="174" name="Google Shape;174;p18" descr="image.png"/>
          <p:cNvPicPr preferRelativeResize="0"/>
          <p:nvPr/>
        </p:nvPicPr>
        <p:blipFill rotWithShape="1">
          <a:blip r:embed="rId8">
            <a:alphaModFix/>
          </a:blip>
          <a:srcRect/>
          <a:stretch/>
        </p:blipFill>
        <p:spPr>
          <a:xfrm>
            <a:off x="5838825" y="2795587"/>
            <a:ext cx="514350" cy="457200"/>
          </a:xfrm>
          <a:prstGeom prst="rect">
            <a:avLst/>
          </a:prstGeom>
          <a:noFill/>
          <a:ln>
            <a:noFill/>
          </a:ln>
        </p:spPr>
      </p:pic>
      <p:pic>
        <p:nvPicPr>
          <p:cNvPr id="175" name="Google Shape;175;p18" descr="image.png"/>
          <p:cNvPicPr preferRelativeResize="0"/>
          <p:nvPr/>
        </p:nvPicPr>
        <p:blipFill rotWithShape="1">
          <a:blip r:embed="rId9">
            <a:alphaModFix/>
          </a:blip>
          <a:srcRect/>
          <a:stretch/>
        </p:blipFill>
        <p:spPr>
          <a:xfrm>
            <a:off x="9645699" y="2795587"/>
            <a:ext cx="457200" cy="457200"/>
          </a:xfrm>
          <a:prstGeom prst="rect">
            <a:avLst/>
          </a:prstGeom>
          <a:noFill/>
          <a:ln>
            <a:noFill/>
          </a:ln>
        </p:spPr>
      </p:pic>
      <p:sp>
        <p:nvSpPr>
          <p:cNvPr id="176" name="Google Shape;176;p18"/>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Phạm Vi Đề Tài</a:t>
            </a:r>
            <a:endParaRPr>
              <a:latin typeface="Arial" panose="020B0604020202020204" pitchFamily="34" charset="0"/>
              <a:cs typeface="Arial" panose="020B0604020202020204" pitchFamily="34" charset="0"/>
            </a:endParaRPr>
          </a:p>
        </p:txBody>
      </p:sp>
      <p:sp>
        <p:nvSpPr>
          <p:cNvPr id="177" name="Google Shape;177;p18"/>
          <p:cNvSpPr/>
          <p:nvPr/>
        </p:nvSpPr>
        <p:spPr>
          <a:xfrm>
            <a:off x="571500" y="1323975"/>
            <a:ext cx="11049000" cy="28575"/>
          </a:xfrm>
          <a:prstGeom prst="rect">
            <a:avLst/>
          </a:prstGeom>
          <a:solidFill>
            <a:srgbClr val="8D6E6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pitchFamily="34" charset="0"/>
              <a:ea typeface="Calibri"/>
              <a:cs typeface="Arial" panose="020B0604020202020204" pitchFamily="34" charset="0"/>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pic>
        <p:nvPicPr>
          <p:cNvPr id="182" name="Google Shape;182;p19" descr="image.png"/>
          <p:cNvPicPr preferRelativeResize="0">
            <a:picLocks noGrp="1" noRot="1" noMove="1" noResize="1" noEditPoints="1" noAdjustHandles="1" noChangeArrowheads="1" noChangeShapeType="1" noCrop="1"/>
          </p:cNvPicPr>
          <p:nvPr/>
        </p:nvPicPr>
        <p:blipFill rotWithShape="1">
          <a:blip r:embed="rId3">
            <a:alphaModFix/>
          </a:blip>
          <a:srcRect/>
          <a:stretch/>
        </p:blipFill>
        <p:spPr>
          <a:xfrm>
            <a:off x="0" y="0"/>
            <a:ext cx="12192000" cy="6858000"/>
          </a:xfrm>
          <a:prstGeom prst="rect">
            <a:avLst/>
          </a:prstGeom>
          <a:noFill/>
          <a:ln>
            <a:noFill/>
          </a:ln>
        </p:spPr>
      </p:pic>
      <p:sp>
        <p:nvSpPr>
          <p:cNvPr id="186" name="Google Shape;186;p19"/>
          <p:cNvSpPr txBox="1"/>
          <p:nvPr/>
        </p:nvSpPr>
        <p:spPr>
          <a:xfrm>
            <a:off x="969264" y="5106730"/>
            <a:ext cx="4956048" cy="886397"/>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4E342E"/>
                </a:solidFill>
                <a:latin typeface="Arial" panose="020B0604020202020204" pitchFamily="34" charset="0"/>
                <a:ea typeface="Lato"/>
                <a:cs typeface="Arial" panose="020B0604020202020204" pitchFamily="34" charset="0"/>
                <a:sym typeface="Lato"/>
              </a:rPr>
              <a:t>Architecture:</a:t>
            </a:r>
            <a:r>
              <a:rPr lang="en-US" sz="1800" b="0" i="0" u="none" strike="noStrike" cap="none">
                <a:solidFill>
                  <a:srgbClr val="4E342E"/>
                </a:solidFill>
                <a:latin typeface="Arial" panose="020B0604020202020204" pitchFamily="34" charset="0"/>
                <a:ea typeface="Lato"/>
                <a:cs typeface="Arial" panose="020B0604020202020204" pitchFamily="34" charset="0"/>
                <a:sym typeface="Lato"/>
              </a:rPr>
              <a:t> MVVM (Model-View-ViewModel) giúp tách biệt logic và giao diện.</a:t>
            </a:r>
            <a:endParaRPr>
              <a:latin typeface="Arial" panose="020B0604020202020204" pitchFamily="34" charset="0"/>
              <a:cs typeface="Arial" panose="020B0604020202020204" pitchFamily="34" charset="0"/>
            </a:endParaRPr>
          </a:p>
        </p:txBody>
      </p:sp>
      <p:sp>
        <p:nvSpPr>
          <p:cNvPr id="187" name="Google Shape;187;p19"/>
          <p:cNvSpPr txBox="1"/>
          <p:nvPr/>
        </p:nvSpPr>
        <p:spPr>
          <a:xfrm>
            <a:off x="6462903" y="5090825"/>
            <a:ext cx="4524375" cy="886397"/>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4E342E"/>
                </a:solidFill>
                <a:latin typeface="Arial" panose="020B0604020202020204" pitchFamily="34" charset="0"/>
                <a:ea typeface="Lato"/>
                <a:cs typeface="Arial" panose="020B0604020202020204" pitchFamily="34" charset="0"/>
                <a:sym typeface="Lato"/>
              </a:rPr>
              <a:t> </a:t>
            </a:r>
            <a:r>
              <a:rPr lang="en-US" sz="1800" b="1" i="0" u="none" strike="noStrike" cap="none">
                <a:solidFill>
                  <a:srgbClr val="4E342E"/>
                </a:solidFill>
                <a:latin typeface="Arial" panose="020B0604020202020204" pitchFamily="34" charset="0"/>
                <a:ea typeface="Lato"/>
                <a:cs typeface="Arial" panose="020B0604020202020204" pitchFamily="34" charset="0"/>
                <a:sym typeface="Lato"/>
              </a:rPr>
              <a:t>UI Toolkit:</a:t>
            </a:r>
            <a:r>
              <a:rPr lang="en-US" sz="1800" b="0" i="0" u="none" strike="noStrike" cap="none">
                <a:solidFill>
                  <a:srgbClr val="4E342E"/>
                </a:solidFill>
                <a:latin typeface="Arial" panose="020B0604020202020204" pitchFamily="34" charset="0"/>
                <a:ea typeface="Lato"/>
                <a:cs typeface="Arial" panose="020B0604020202020204" pitchFamily="34" charset="0"/>
                <a:sym typeface="Lato"/>
              </a:rPr>
              <a:t> Jetpack Compose - hiện đại, khai báo (declarative).</a:t>
            </a:r>
            <a:endParaRPr>
              <a:latin typeface="Arial" panose="020B0604020202020204" pitchFamily="34" charset="0"/>
              <a:cs typeface="Arial" panose="020B0604020202020204" pitchFamily="34" charset="0"/>
            </a:endParaRPr>
          </a:p>
        </p:txBody>
      </p:sp>
      <p:sp>
        <p:nvSpPr>
          <p:cNvPr id="188" name="Google Shape;188;p19"/>
          <p:cNvSpPr txBox="1"/>
          <p:nvPr/>
        </p:nvSpPr>
        <p:spPr>
          <a:xfrm>
            <a:off x="4110037" y="6188059"/>
            <a:ext cx="4524375"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4E342E"/>
                </a:solidFill>
                <a:latin typeface="Arial" panose="020B0604020202020204" pitchFamily="34" charset="0"/>
                <a:ea typeface="Lato"/>
                <a:cs typeface="Arial" panose="020B0604020202020204" pitchFamily="34" charset="0"/>
                <a:sym typeface="Lato"/>
              </a:rPr>
              <a:t>Payment:</a:t>
            </a:r>
            <a:r>
              <a:rPr lang="en-US" sz="1800" b="0" i="0" u="none" strike="noStrike" cap="none">
                <a:solidFill>
                  <a:srgbClr val="4E342E"/>
                </a:solidFill>
                <a:latin typeface="Arial" panose="020B0604020202020204" pitchFamily="34" charset="0"/>
                <a:ea typeface="Lato"/>
                <a:cs typeface="Arial" panose="020B0604020202020204" pitchFamily="34" charset="0"/>
                <a:sym typeface="Lato"/>
              </a:rPr>
              <a:t> ZaloPay Sandbox</a:t>
            </a:r>
            <a:endParaRPr>
              <a:latin typeface="Arial" panose="020B0604020202020204" pitchFamily="34" charset="0"/>
              <a:cs typeface="Arial" panose="020B0604020202020204" pitchFamily="34" charset="0"/>
            </a:endParaRPr>
          </a:p>
        </p:txBody>
      </p:sp>
      <p:sp>
        <p:nvSpPr>
          <p:cNvPr id="193" name="Google Shape;193;p19"/>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Phương Pháp </a:t>
            </a:r>
            <a:r>
              <a:rPr lang="vi-VN" sz="36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và</a:t>
            </a:r>
            <a:r>
              <a:rPr lang="en-US" sz="36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 Kỹ Thuật</a:t>
            </a:r>
            <a:endParaRPr>
              <a:latin typeface="Arial" panose="020B0604020202020204" pitchFamily="34" charset="0"/>
              <a:cs typeface="Arial" panose="020B0604020202020204" pitchFamily="34" charset="0"/>
            </a:endParaRPr>
          </a:p>
        </p:txBody>
      </p:sp>
      <p:sp>
        <p:nvSpPr>
          <p:cNvPr id="194" name="Google Shape;194;p19"/>
          <p:cNvSpPr/>
          <p:nvPr/>
        </p:nvSpPr>
        <p:spPr>
          <a:xfrm>
            <a:off x="571500" y="1323975"/>
            <a:ext cx="11049000" cy="28575"/>
          </a:xfrm>
          <a:prstGeom prst="rect">
            <a:avLst/>
          </a:prstGeom>
          <a:solidFill>
            <a:srgbClr val="8D6E6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pitchFamily="34" charset="0"/>
              <a:ea typeface="Calibri"/>
              <a:cs typeface="Arial" panose="020B0604020202020204" pitchFamily="34" charset="0"/>
              <a:sym typeface="Calibri"/>
            </a:endParaRPr>
          </a:p>
        </p:txBody>
      </p:sp>
      <p:pic>
        <p:nvPicPr>
          <p:cNvPr id="5" name="Hình ảnh 4" descr="Ảnh có chứa văn bản, biểu đồ, số, hàng&#10;&#10;Nội dung do AI tạo ra có thể không chính xác.">
            <a:extLst>
              <a:ext uri="{FF2B5EF4-FFF2-40B4-BE49-F238E27FC236}">
                <a16:creationId xmlns:a16="http://schemas.microsoft.com/office/drawing/2014/main" id="{0BCD9597-8E6F-1850-42BC-B49E68919ED3}"/>
              </a:ext>
            </a:extLst>
          </p:cNvPr>
          <p:cNvPicPr>
            <a:picLocks noChangeAspect="1"/>
          </p:cNvPicPr>
          <p:nvPr/>
        </p:nvPicPr>
        <p:blipFill>
          <a:blip r:embed="rId4"/>
          <a:stretch>
            <a:fillRect/>
          </a:stretch>
        </p:blipFill>
        <p:spPr>
          <a:xfrm>
            <a:off x="1694497" y="1551027"/>
            <a:ext cx="8803005" cy="34443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20" descr="image.png"/>
          <p:cNvPicPr preferRelativeResize="0"/>
          <p:nvPr/>
        </p:nvPicPr>
        <p:blipFill rotWithShape="1">
          <a:blip r:embed="rId3">
            <a:alphaModFix/>
          </a:blip>
          <a:srcRect/>
          <a:stretch/>
        </p:blipFill>
        <p:spPr>
          <a:xfrm>
            <a:off x="0" y="277106"/>
            <a:ext cx="12192000" cy="6858000"/>
          </a:xfrm>
          <a:prstGeom prst="rect">
            <a:avLst/>
          </a:prstGeom>
          <a:noFill/>
          <a:ln>
            <a:noFill/>
          </a:ln>
        </p:spPr>
      </p:pic>
      <p:pic>
        <p:nvPicPr>
          <p:cNvPr id="200" name="Google Shape;200;p20" descr="image.png"/>
          <p:cNvPicPr preferRelativeResize="0"/>
          <p:nvPr/>
        </p:nvPicPr>
        <p:blipFill rotWithShape="1">
          <a:blip r:embed="rId4">
            <a:alphaModFix/>
          </a:blip>
          <a:srcRect/>
          <a:stretch/>
        </p:blipFill>
        <p:spPr>
          <a:xfrm>
            <a:off x="571500" y="1895474"/>
            <a:ext cx="5381625" cy="3847195"/>
          </a:xfrm>
          <a:prstGeom prst="rect">
            <a:avLst/>
          </a:prstGeom>
          <a:noFill/>
          <a:ln>
            <a:noFill/>
          </a:ln>
        </p:spPr>
      </p:pic>
      <p:pic>
        <p:nvPicPr>
          <p:cNvPr id="201" name="Google Shape;201;p20" descr="image.png"/>
          <p:cNvPicPr preferRelativeResize="0"/>
          <p:nvPr/>
        </p:nvPicPr>
        <p:blipFill rotWithShape="1">
          <a:blip r:embed="rId5">
            <a:alphaModFix/>
          </a:blip>
          <a:srcRect/>
          <a:stretch/>
        </p:blipFill>
        <p:spPr>
          <a:xfrm>
            <a:off x="6238875" y="1895475"/>
            <a:ext cx="5381625" cy="3847194"/>
          </a:xfrm>
          <a:prstGeom prst="rect">
            <a:avLst/>
          </a:prstGeom>
          <a:noFill/>
          <a:ln>
            <a:noFill/>
          </a:ln>
        </p:spPr>
      </p:pic>
      <p:sp>
        <p:nvSpPr>
          <p:cNvPr id="202" name="Google Shape;202;p20"/>
          <p:cNvSpPr txBox="1"/>
          <p:nvPr/>
        </p:nvSpPr>
        <p:spPr>
          <a:xfrm>
            <a:off x="571500" y="6186940"/>
            <a:ext cx="11049000" cy="393954"/>
          </a:xfrm>
          <a:prstGeom prst="rect">
            <a:avLst/>
          </a:prstGeom>
          <a:noFill/>
          <a:ln>
            <a:noFill/>
          </a:ln>
        </p:spPr>
        <p:txBody>
          <a:bodyPr spcFirstLastPara="1" wrap="square" lIns="190500" tIns="0" rIns="0" bIns="0" anchor="t" anchorCtr="0">
            <a:spAutoFit/>
          </a:bodyPr>
          <a:lstStyle/>
          <a:p>
            <a:pPr lvl="0" algn="ctr">
              <a:lnSpc>
                <a:spcPct val="160000"/>
              </a:lnSpc>
            </a:pPr>
            <a:r>
              <a:rPr lang="vi-VN" sz="1600" b="0" i="1" u="none" strike="noStrike" cap="none">
                <a:solidFill>
                  <a:srgbClr val="475569"/>
                </a:solidFill>
                <a:latin typeface="Arial" panose="020B0604020202020204" pitchFamily="34" charset="0"/>
                <a:ea typeface="Inter"/>
                <a:cs typeface="Arial" panose="020B0604020202020204" pitchFamily="34" charset="0"/>
                <a:sym typeface="Inter"/>
              </a:rPr>
              <a:t>Ứng dụng hoạt động mượt mà, ổn định trên các thiết bị Android 10+.</a:t>
            </a:r>
            <a:endParaRPr lang="vi-VN" sz="1600">
              <a:latin typeface="Arial" panose="020B0604020202020204" pitchFamily="34" charset="0"/>
              <a:cs typeface="Arial" panose="020B0604020202020204" pitchFamily="34" charset="0"/>
            </a:endParaRPr>
          </a:p>
        </p:txBody>
      </p:sp>
      <p:pic>
        <p:nvPicPr>
          <p:cNvPr id="203" name="Google Shape;203;p20" descr="image.png"/>
          <p:cNvPicPr preferRelativeResize="0"/>
          <p:nvPr/>
        </p:nvPicPr>
        <p:blipFill rotWithShape="1">
          <a:blip r:embed="rId6">
            <a:alphaModFix/>
          </a:blip>
          <a:srcRect/>
          <a:stretch/>
        </p:blipFill>
        <p:spPr>
          <a:xfrm>
            <a:off x="2852737" y="6312908"/>
            <a:ext cx="190500" cy="190500"/>
          </a:xfrm>
          <a:prstGeom prst="rect">
            <a:avLst/>
          </a:prstGeom>
          <a:noFill/>
          <a:ln>
            <a:noFill/>
          </a:ln>
        </p:spPr>
      </p:pic>
      <p:sp>
        <p:nvSpPr>
          <p:cNvPr id="204" name="Google Shape;204;p20"/>
          <p:cNvSpPr txBox="1"/>
          <p:nvPr/>
        </p:nvSpPr>
        <p:spPr>
          <a:xfrm>
            <a:off x="571500" y="5742670"/>
            <a:ext cx="5381625" cy="36933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5D4037"/>
                </a:solidFill>
                <a:latin typeface="Arial" panose="020B0604020202020204" pitchFamily="34" charset="0"/>
                <a:ea typeface="Lato"/>
                <a:cs typeface="Arial" panose="020B0604020202020204" pitchFamily="34" charset="0"/>
                <a:sym typeface="Lato"/>
              </a:rPr>
              <a:t>Thanh toán thành công qua ZaloPay</a:t>
            </a:r>
            <a:endParaRPr>
              <a:latin typeface="Arial" panose="020B0604020202020204" pitchFamily="34" charset="0"/>
              <a:cs typeface="Arial" panose="020B0604020202020204" pitchFamily="34" charset="0"/>
            </a:endParaRPr>
          </a:p>
        </p:txBody>
      </p:sp>
      <p:sp>
        <p:nvSpPr>
          <p:cNvPr id="205" name="Google Shape;205;p20"/>
          <p:cNvSpPr txBox="1"/>
          <p:nvPr/>
        </p:nvSpPr>
        <p:spPr>
          <a:xfrm>
            <a:off x="6238875" y="5742669"/>
            <a:ext cx="5381625" cy="36933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5D4037"/>
                </a:solidFill>
                <a:latin typeface="Arial" panose="020B0604020202020204" pitchFamily="34" charset="0"/>
                <a:ea typeface="Lato"/>
                <a:cs typeface="Arial" panose="020B0604020202020204" pitchFamily="34" charset="0"/>
                <a:sym typeface="Lato"/>
              </a:rPr>
              <a:t>Tích hợp bản đồ </a:t>
            </a:r>
            <a:r>
              <a:rPr lang="vi-VN" sz="1500" b="1" i="0" u="none" strike="noStrike" cap="none">
                <a:solidFill>
                  <a:srgbClr val="5D4037"/>
                </a:solidFill>
                <a:latin typeface="Arial" panose="020B0604020202020204" pitchFamily="34" charset="0"/>
                <a:ea typeface="Lato"/>
                <a:cs typeface="Arial" panose="020B0604020202020204" pitchFamily="34" charset="0"/>
                <a:sym typeface="Lato"/>
              </a:rPr>
              <a:t>và </a:t>
            </a:r>
            <a:r>
              <a:rPr lang="en-US" sz="1500" b="1">
                <a:solidFill>
                  <a:srgbClr val="5D4037"/>
                </a:solidFill>
                <a:latin typeface="Arial" panose="020B0604020202020204" pitchFamily="34" charset="0"/>
                <a:ea typeface="Lato"/>
                <a:cs typeface="Arial" panose="020B0604020202020204" pitchFamily="34" charset="0"/>
                <a:sym typeface="Lato"/>
              </a:rPr>
              <a:t>c</a:t>
            </a:r>
            <a:r>
              <a:rPr lang="en-US" sz="1500" b="1" i="0" u="none" strike="noStrike" cap="none">
                <a:solidFill>
                  <a:srgbClr val="5D4037"/>
                </a:solidFill>
                <a:latin typeface="Arial" panose="020B0604020202020204" pitchFamily="34" charset="0"/>
                <a:ea typeface="Lato"/>
                <a:cs typeface="Arial" panose="020B0604020202020204" pitchFamily="34" charset="0"/>
                <a:sym typeface="Lato"/>
              </a:rPr>
              <a:t>họn địa chỉ</a:t>
            </a:r>
            <a:endParaRPr>
              <a:latin typeface="Arial" panose="020B0604020202020204" pitchFamily="34" charset="0"/>
              <a:cs typeface="Arial" panose="020B0604020202020204" pitchFamily="34" charset="0"/>
            </a:endParaRPr>
          </a:p>
        </p:txBody>
      </p:sp>
      <p:sp>
        <p:nvSpPr>
          <p:cNvPr id="208" name="Google Shape;208;p20"/>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Kết Quả Đạt Được</a:t>
            </a:r>
            <a:endParaRPr>
              <a:latin typeface="Arial" panose="020B0604020202020204" pitchFamily="34" charset="0"/>
              <a:cs typeface="Arial" panose="020B0604020202020204" pitchFamily="34" charset="0"/>
            </a:endParaRPr>
          </a:p>
        </p:txBody>
      </p:sp>
      <p:sp>
        <p:nvSpPr>
          <p:cNvPr id="209" name="Google Shape;209;p20"/>
          <p:cNvSpPr/>
          <p:nvPr/>
        </p:nvSpPr>
        <p:spPr>
          <a:xfrm>
            <a:off x="571500" y="1323975"/>
            <a:ext cx="11049000" cy="28575"/>
          </a:xfrm>
          <a:prstGeom prst="rect">
            <a:avLst/>
          </a:prstGeom>
          <a:solidFill>
            <a:srgbClr val="8D6E6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pitchFamily="34" charset="0"/>
              <a:ea typeface="Calibri"/>
              <a:cs typeface="Arial" panose="020B0604020202020204" pitchFamily="34" charset="0"/>
              <a:sym typeface="Calibri"/>
            </a:endParaRPr>
          </a:p>
        </p:txBody>
      </p:sp>
      <p:pic>
        <p:nvPicPr>
          <p:cNvPr id="3" name="Hình ảnh 2">
            <a:extLst>
              <a:ext uri="{FF2B5EF4-FFF2-40B4-BE49-F238E27FC236}">
                <a16:creationId xmlns:a16="http://schemas.microsoft.com/office/drawing/2014/main" id="{3B6FEBAF-03F2-976B-E39E-675FDBFC4303}"/>
              </a:ext>
            </a:extLst>
          </p:cNvPr>
          <p:cNvPicPr>
            <a:picLocks noChangeAspect="1"/>
          </p:cNvPicPr>
          <p:nvPr/>
        </p:nvPicPr>
        <p:blipFill>
          <a:blip r:embed="rId7"/>
          <a:stretch>
            <a:fillRect/>
          </a:stretch>
        </p:blipFill>
        <p:spPr>
          <a:xfrm>
            <a:off x="1436382" y="2110467"/>
            <a:ext cx="1606855" cy="3349760"/>
          </a:xfrm>
          <a:prstGeom prst="rect">
            <a:avLst/>
          </a:prstGeom>
        </p:spPr>
      </p:pic>
      <p:pic>
        <p:nvPicPr>
          <p:cNvPr id="5" name="Hình ảnh 4">
            <a:extLst>
              <a:ext uri="{FF2B5EF4-FFF2-40B4-BE49-F238E27FC236}">
                <a16:creationId xmlns:a16="http://schemas.microsoft.com/office/drawing/2014/main" id="{276ED483-F55F-4AEF-C3FD-CA3322D40136}"/>
              </a:ext>
            </a:extLst>
          </p:cNvPr>
          <p:cNvPicPr>
            <a:picLocks noChangeAspect="1"/>
          </p:cNvPicPr>
          <p:nvPr/>
        </p:nvPicPr>
        <p:blipFill>
          <a:blip r:embed="rId8"/>
          <a:stretch>
            <a:fillRect/>
          </a:stretch>
        </p:blipFill>
        <p:spPr>
          <a:xfrm>
            <a:off x="3614737" y="2110466"/>
            <a:ext cx="1606855" cy="3349759"/>
          </a:xfrm>
          <a:prstGeom prst="rect">
            <a:avLst/>
          </a:prstGeom>
        </p:spPr>
      </p:pic>
      <p:pic>
        <p:nvPicPr>
          <p:cNvPr id="6" name="Hình ảnh 5">
            <a:extLst>
              <a:ext uri="{FF2B5EF4-FFF2-40B4-BE49-F238E27FC236}">
                <a16:creationId xmlns:a16="http://schemas.microsoft.com/office/drawing/2014/main" id="{E6D100AA-33CA-29C5-2C9B-EFD7CD19354C}"/>
              </a:ext>
            </a:extLst>
          </p:cNvPr>
          <p:cNvPicPr>
            <a:picLocks noChangeAspect="1"/>
          </p:cNvPicPr>
          <p:nvPr/>
        </p:nvPicPr>
        <p:blipFill>
          <a:blip r:embed="rId9"/>
          <a:stretch>
            <a:fillRect/>
          </a:stretch>
        </p:blipFill>
        <p:spPr>
          <a:xfrm>
            <a:off x="8135452" y="2147937"/>
            <a:ext cx="1588470" cy="33497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1" name="Google Shape;221;p21"/>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Hướng Phát Triển Tương Lai</a:t>
            </a:r>
            <a:endParaRPr>
              <a:latin typeface="Arial" panose="020B0604020202020204" pitchFamily="34" charset="0"/>
              <a:cs typeface="Arial" panose="020B0604020202020204" pitchFamily="34" charset="0"/>
            </a:endParaRPr>
          </a:p>
        </p:txBody>
      </p:sp>
      <p:sp>
        <p:nvSpPr>
          <p:cNvPr id="222" name="Google Shape;222;p21"/>
          <p:cNvSpPr/>
          <p:nvPr/>
        </p:nvSpPr>
        <p:spPr>
          <a:xfrm>
            <a:off x="571500" y="1323975"/>
            <a:ext cx="11049000" cy="28575"/>
          </a:xfrm>
          <a:prstGeom prst="rect">
            <a:avLst/>
          </a:prstGeom>
          <a:solidFill>
            <a:srgbClr val="8D6E6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pitchFamily="34" charset="0"/>
              <a:ea typeface="Calibri"/>
              <a:cs typeface="Arial" panose="020B0604020202020204" pitchFamily="34" charset="0"/>
              <a:sym typeface="Calibri"/>
            </a:endParaRPr>
          </a:p>
        </p:txBody>
      </p:sp>
      <p:pic>
        <p:nvPicPr>
          <p:cNvPr id="2" name="Google Shape;202;p21" descr="image.png">
            <a:extLst>
              <a:ext uri="{FF2B5EF4-FFF2-40B4-BE49-F238E27FC236}">
                <a16:creationId xmlns:a16="http://schemas.microsoft.com/office/drawing/2014/main" id="{76EFA816-D8D6-9F09-BFE7-08E1578725CD}"/>
              </a:ext>
            </a:extLst>
          </p:cNvPr>
          <p:cNvPicPr preferRelativeResize="0"/>
          <p:nvPr/>
        </p:nvPicPr>
        <p:blipFill rotWithShape="1">
          <a:blip r:embed="rId4">
            <a:alphaModFix/>
          </a:blip>
          <a:srcRect/>
          <a:stretch/>
        </p:blipFill>
        <p:spPr>
          <a:xfrm>
            <a:off x="571352" y="1352550"/>
            <a:ext cx="3492549" cy="5210175"/>
          </a:xfrm>
          <a:prstGeom prst="rect">
            <a:avLst/>
          </a:prstGeom>
          <a:noFill/>
          <a:ln>
            <a:noFill/>
          </a:ln>
        </p:spPr>
      </p:pic>
      <p:pic>
        <p:nvPicPr>
          <p:cNvPr id="3" name="Google Shape;203;p21" descr="image.png">
            <a:extLst>
              <a:ext uri="{FF2B5EF4-FFF2-40B4-BE49-F238E27FC236}">
                <a16:creationId xmlns:a16="http://schemas.microsoft.com/office/drawing/2014/main" id="{53191FFF-DE2F-5B4E-051D-5C9680D916E8}"/>
              </a:ext>
            </a:extLst>
          </p:cNvPr>
          <p:cNvPicPr preferRelativeResize="0"/>
          <p:nvPr/>
        </p:nvPicPr>
        <p:blipFill rotWithShape="1">
          <a:blip r:embed="rId5">
            <a:alphaModFix/>
          </a:blip>
          <a:srcRect/>
          <a:stretch/>
        </p:blipFill>
        <p:spPr>
          <a:xfrm>
            <a:off x="4349651" y="1352550"/>
            <a:ext cx="3492549" cy="5210175"/>
          </a:xfrm>
          <a:prstGeom prst="rect">
            <a:avLst/>
          </a:prstGeom>
          <a:noFill/>
          <a:ln>
            <a:noFill/>
          </a:ln>
        </p:spPr>
      </p:pic>
      <p:pic>
        <p:nvPicPr>
          <p:cNvPr id="4" name="Google Shape;204;p21" descr="image.png">
            <a:extLst>
              <a:ext uri="{FF2B5EF4-FFF2-40B4-BE49-F238E27FC236}">
                <a16:creationId xmlns:a16="http://schemas.microsoft.com/office/drawing/2014/main" id="{7E1A3D3D-B333-B9B3-20BB-3B9EF7E6E3A3}"/>
              </a:ext>
            </a:extLst>
          </p:cNvPr>
          <p:cNvPicPr preferRelativeResize="0"/>
          <p:nvPr/>
        </p:nvPicPr>
        <p:blipFill rotWithShape="1">
          <a:blip r:embed="rId6">
            <a:alphaModFix/>
          </a:blip>
          <a:srcRect/>
          <a:stretch/>
        </p:blipFill>
        <p:spPr>
          <a:xfrm>
            <a:off x="8127951" y="1352550"/>
            <a:ext cx="3492549" cy="5210175"/>
          </a:xfrm>
          <a:prstGeom prst="rect">
            <a:avLst/>
          </a:prstGeom>
          <a:noFill/>
          <a:ln>
            <a:noFill/>
          </a:ln>
        </p:spPr>
      </p:pic>
      <p:pic>
        <p:nvPicPr>
          <p:cNvPr id="5" name="Google Shape;206;p21" descr="image.png">
            <a:extLst>
              <a:ext uri="{FF2B5EF4-FFF2-40B4-BE49-F238E27FC236}">
                <a16:creationId xmlns:a16="http://schemas.microsoft.com/office/drawing/2014/main" id="{07904945-469D-2BE8-175B-367810E4E71F}"/>
              </a:ext>
            </a:extLst>
          </p:cNvPr>
          <p:cNvPicPr preferRelativeResize="0"/>
          <p:nvPr/>
        </p:nvPicPr>
        <p:blipFill rotWithShape="1">
          <a:blip r:embed="rId7">
            <a:alphaModFix/>
          </a:blip>
          <a:srcRect/>
          <a:stretch/>
        </p:blipFill>
        <p:spPr>
          <a:xfrm>
            <a:off x="1936552" y="1647825"/>
            <a:ext cx="762000" cy="762000"/>
          </a:xfrm>
          <a:prstGeom prst="rect">
            <a:avLst/>
          </a:prstGeom>
          <a:noFill/>
          <a:ln>
            <a:noFill/>
          </a:ln>
        </p:spPr>
      </p:pic>
      <p:sp>
        <p:nvSpPr>
          <p:cNvPr id="6" name="Google Shape;207;p21">
            <a:extLst>
              <a:ext uri="{FF2B5EF4-FFF2-40B4-BE49-F238E27FC236}">
                <a16:creationId xmlns:a16="http://schemas.microsoft.com/office/drawing/2014/main" id="{E45DDD9C-9C27-BBA4-5E76-4E8FD238DEB7}"/>
              </a:ext>
            </a:extLst>
          </p:cNvPr>
          <p:cNvSpPr txBox="1"/>
          <p:nvPr/>
        </p:nvSpPr>
        <p:spPr>
          <a:xfrm>
            <a:off x="1222415" y="2723034"/>
            <a:ext cx="2190273" cy="230832"/>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500" b="0" i="0" u="none" strike="noStrike" cap="none">
                <a:solidFill>
                  <a:srgbClr val="0F172A"/>
                </a:solidFill>
                <a:latin typeface="Arial" panose="020B0604020202020204" pitchFamily="34" charset="0"/>
                <a:ea typeface="Poppins SemiBold"/>
                <a:cs typeface="Arial" panose="020B0604020202020204" pitchFamily="34" charset="0"/>
                <a:sym typeface="Poppins SemiBold"/>
              </a:rPr>
              <a:t>App Shipper </a:t>
            </a:r>
            <a:r>
              <a:rPr lang="vi-VN" sz="1500" b="0" i="0" u="none" strike="noStrike" cap="none">
                <a:solidFill>
                  <a:srgbClr val="0F172A"/>
                </a:solidFill>
                <a:latin typeface="Arial" panose="020B0604020202020204" pitchFamily="34" charset="0"/>
                <a:ea typeface="Poppins SemiBold"/>
                <a:cs typeface="Arial" panose="020B0604020202020204" pitchFamily="34" charset="0"/>
                <a:sym typeface="Poppins SemiBold"/>
              </a:rPr>
              <a:t>và</a:t>
            </a:r>
            <a:r>
              <a:rPr lang="en-US" sz="1500" b="0" i="0" u="none" strike="noStrike" cap="none">
                <a:solidFill>
                  <a:srgbClr val="0F172A"/>
                </a:solidFill>
                <a:latin typeface="Arial" panose="020B0604020202020204" pitchFamily="34" charset="0"/>
                <a:ea typeface="Poppins SemiBold"/>
                <a:cs typeface="Arial" panose="020B0604020202020204" pitchFamily="34" charset="0"/>
                <a:sym typeface="Poppins SemiBold"/>
              </a:rPr>
              <a:t> Admin</a:t>
            </a:r>
            <a:endParaRPr>
              <a:latin typeface="Arial" panose="020B0604020202020204" pitchFamily="34" charset="0"/>
              <a:cs typeface="Arial" panose="020B0604020202020204" pitchFamily="34" charset="0"/>
            </a:endParaRPr>
          </a:p>
        </p:txBody>
      </p:sp>
      <p:sp>
        <p:nvSpPr>
          <p:cNvPr id="7" name="Google Shape;208;p21">
            <a:extLst>
              <a:ext uri="{FF2B5EF4-FFF2-40B4-BE49-F238E27FC236}">
                <a16:creationId xmlns:a16="http://schemas.microsoft.com/office/drawing/2014/main" id="{E38A93EB-BD77-A6FD-883B-081DF1E77F5D}"/>
              </a:ext>
            </a:extLst>
          </p:cNvPr>
          <p:cNvSpPr txBox="1"/>
          <p:nvPr/>
        </p:nvSpPr>
        <p:spPr>
          <a:xfrm>
            <a:off x="771377" y="3171825"/>
            <a:ext cx="3092499" cy="59093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475569"/>
                </a:solidFill>
                <a:latin typeface="Arial" panose="020B0604020202020204" pitchFamily="34" charset="0"/>
                <a:ea typeface="Inter"/>
                <a:cs typeface="Arial" panose="020B0604020202020204" pitchFamily="34" charset="0"/>
                <a:sym typeface="Inter"/>
              </a:rPr>
              <a:t>Xây dựng hệ sinh thái đầy đủ cho Tài xế </a:t>
            </a:r>
          </a:p>
          <a:p>
            <a:pPr marL="0" marR="0" lvl="0" indent="0" algn="ctr" rtl="0">
              <a:lnSpc>
                <a:spcPct val="160000"/>
              </a:lnSpc>
              <a:spcBef>
                <a:spcPts val="0"/>
              </a:spcBef>
              <a:spcAft>
                <a:spcPts val="0"/>
              </a:spcAft>
              <a:buNone/>
            </a:pPr>
            <a:r>
              <a:rPr lang="en-US" sz="1200" b="0" i="0" u="none" strike="noStrike" cap="none">
                <a:solidFill>
                  <a:srgbClr val="475569"/>
                </a:solidFill>
                <a:latin typeface="Arial" panose="020B0604020202020204" pitchFamily="34" charset="0"/>
                <a:ea typeface="Inter"/>
                <a:cs typeface="Arial" panose="020B0604020202020204" pitchFamily="34" charset="0"/>
                <a:sym typeface="Inter"/>
              </a:rPr>
              <a:t>và Quản trị viên quản lý đơn hàng.</a:t>
            </a:r>
            <a:endParaRPr>
              <a:latin typeface="Arial" panose="020B0604020202020204" pitchFamily="34" charset="0"/>
              <a:cs typeface="Arial" panose="020B0604020202020204" pitchFamily="34" charset="0"/>
            </a:endParaRPr>
          </a:p>
        </p:txBody>
      </p:sp>
      <p:pic>
        <p:nvPicPr>
          <p:cNvPr id="8" name="Google Shape;209;p21" descr="image.png">
            <a:extLst>
              <a:ext uri="{FF2B5EF4-FFF2-40B4-BE49-F238E27FC236}">
                <a16:creationId xmlns:a16="http://schemas.microsoft.com/office/drawing/2014/main" id="{38DDB96F-E24C-7FC8-8262-236F61C5C62B}"/>
              </a:ext>
            </a:extLst>
          </p:cNvPr>
          <p:cNvPicPr preferRelativeResize="0"/>
          <p:nvPr/>
        </p:nvPicPr>
        <p:blipFill rotWithShape="1">
          <a:blip r:embed="rId8">
            <a:alphaModFix/>
          </a:blip>
          <a:srcRect/>
          <a:stretch/>
        </p:blipFill>
        <p:spPr>
          <a:xfrm>
            <a:off x="5714852" y="1647825"/>
            <a:ext cx="762000" cy="762000"/>
          </a:xfrm>
          <a:prstGeom prst="rect">
            <a:avLst/>
          </a:prstGeom>
          <a:noFill/>
          <a:ln>
            <a:noFill/>
          </a:ln>
        </p:spPr>
      </p:pic>
      <p:sp>
        <p:nvSpPr>
          <p:cNvPr id="9" name="Google Shape;210;p21">
            <a:extLst>
              <a:ext uri="{FF2B5EF4-FFF2-40B4-BE49-F238E27FC236}">
                <a16:creationId xmlns:a16="http://schemas.microsoft.com/office/drawing/2014/main" id="{A9B32B07-89EA-C8FA-5091-96F02188E2CF}"/>
              </a:ext>
            </a:extLst>
          </p:cNvPr>
          <p:cNvSpPr txBox="1"/>
          <p:nvPr/>
        </p:nvSpPr>
        <p:spPr>
          <a:xfrm>
            <a:off x="5045720" y="2723034"/>
            <a:ext cx="2100262" cy="230832"/>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500" b="0" i="0" u="none" strike="noStrike" cap="none">
                <a:solidFill>
                  <a:srgbClr val="0F172A"/>
                </a:solidFill>
                <a:latin typeface="Arial" panose="020B0604020202020204" pitchFamily="34" charset="0"/>
                <a:ea typeface="Poppins SemiBold"/>
                <a:cs typeface="Arial" panose="020B0604020202020204" pitchFamily="34" charset="0"/>
                <a:sym typeface="Poppins SemiBold"/>
              </a:rPr>
              <a:t>AI Recommendation</a:t>
            </a:r>
            <a:endParaRPr>
              <a:latin typeface="Arial" panose="020B0604020202020204" pitchFamily="34" charset="0"/>
              <a:cs typeface="Arial" panose="020B0604020202020204" pitchFamily="34" charset="0"/>
            </a:endParaRPr>
          </a:p>
        </p:txBody>
      </p:sp>
      <p:sp>
        <p:nvSpPr>
          <p:cNvPr id="10" name="Google Shape;211;p21">
            <a:extLst>
              <a:ext uri="{FF2B5EF4-FFF2-40B4-BE49-F238E27FC236}">
                <a16:creationId xmlns:a16="http://schemas.microsoft.com/office/drawing/2014/main" id="{678AB464-CEAA-A184-5012-9E50C46191A2}"/>
              </a:ext>
            </a:extLst>
          </p:cNvPr>
          <p:cNvSpPr txBox="1"/>
          <p:nvPr/>
        </p:nvSpPr>
        <p:spPr>
          <a:xfrm>
            <a:off x="4549676" y="3171825"/>
            <a:ext cx="3092499" cy="59093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475569"/>
                </a:solidFill>
                <a:latin typeface="Arial" panose="020B0604020202020204" pitchFamily="34" charset="0"/>
                <a:ea typeface="Inter"/>
                <a:cs typeface="Arial" panose="020B0604020202020204" pitchFamily="34" charset="0"/>
                <a:sym typeface="Inter"/>
              </a:rPr>
              <a:t>Tích hợp AI để gợi ý món uống dựa trên lịch sử đặt hàng và sở thích người dùng.</a:t>
            </a:r>
            <a:endParaRPr>
              <a:latin typeface="Arial" panose="020B0604020202020204" pitchFamily="34" charset="0"/>
              <a:cs typeface="Arial" panose="020B0604020202020204" pitchFamily="34" charset="0"/>
            </a:endParaRPr>
          </a:p>
        </p:txBody>
      </p:sp>
      <p:pic>
        <p:nvPicPr>
          <p:cNvPr id="11" name="Google Shape;212;p21" descr="image.png">
            <a:extLst>
              <a:ext uri="{FF2B5EF4-FFF2-40B4-BE49-F238E27FC236}">
                <a16:creationId xmlns:a16="http://schemas.microsoft.com/office/drawing/2014/main" id="{07021F3A-C528-632E-F928-496F60087683}"/>
              </a:ext>
            </a:extLst>
          </p:cNvPr>
          <p:cNvPicPr preferRelativeResize="0"/>
          <p:nvPr/>
        </p:nvPicPr>
        <p:blipFill rotWithShape="1">
          <a:blip r:embed="rId9">
            <a:alphaModFix/>
          </a:blip>
          <a:srcRect/>
          <a:stretch/>
        </p:blipFill>
        <p:spPr>
          <a:xfrm>
            <a:off x="9493151" y="1647825"/>
            <a:ext cx="762000" cy="762000"/>
          </a:xfrm>
          <a:prstGeom prst="rect">
            <a:avLst/>
          </a:prstGeom>
          <a:noFill/>
          <a:ln>
            <a:noFill/>
          </a:ln>
        </p:spPr>
      </p:pic>
      <p:sp>
        <p:nvSpPr>
          <p:cNvPr id="12" name="Google Shape;213;p21">
            <a:extLst>
              <a:ext uri="{FF2B5EF4-FFF2-40B4-BE49-F238E27FC236}">
                <a16:creationId xmlns:a16="http://schemas.microsoft.com/office/drawing/2014/main" id="{8CBCA99E-3E25-C491-57CD-7EA2763F6AC1}"/>
              </a:ext>
            </a:extLst>
          </p:cNvPr>
          <p:cNvSpPr txBox="1"/>
          <p:nvPr/>
        </p:nvSpPr>
        <p:spPr>
          <a:xfrm>
            <a:off x="8949035" y="2723034"/>
            <a:ext cx="1850231" cy="230832"/>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500" b="0" i="0" u="none" strike="noStrike" cap="none">
                <a:solidFill>
                  <a:srgbClr val="0F172A"/>
                </a:solidFill>
                <a:latin typeface="Arial" panose="020B0604020202020204" pitchFamily="34" charset="0"/>
                <a:ea typeface="Poppins SemiBold"/>
                <a:cs typeface="Arial" panose="020B0604020202020204" pitchFamily="34" charset="0"/>
                <a:sym typeface="Poppins SemiBold"/>
              </a:rPr>
              <a:t>Push Notifications</a:t>
            </a:r>
            <a:endParaRPr>
              <a:latin typeface="Arial" panose="020B0604020202020204" pitchFamily="34" charset="0"/>
              <a:cs typeface="Arial" panose="020B0604020202020204" pitchFamily="34" charset="0"/>
            </a:endParaRPr>
          </a:p>
        </p:txBody>
      </p:sp>
      <p:sp>
        <p:nvSpPr>
          <p:cNvPr id="13" name="Google Shape;214;p21">
            <a:extLst>
              <a:ext uri="{FF2B5EF4-FFF2-40B4-BE49-F238E27FC236}">
                <a16:creationId xmlns:a16="http://schemas.microsoft.com/office/drawing/2014/main" id="{61A4C0D5-9890-1B67-53A1-3940FC82E7DE}"/>
              </a:ext>
            </a:extLst>
          </p:cNvPr>
          <p:cNvSpPr txBox="1"/>
          <p:nvPr/>
        </p:nvSpPr>
        <p:spPr>
          <a:xfrm>
            <a:off x="8327976" y="3171825"/>
            <a:ext cx="3092499" cy="59093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475569"/>
                </a:solidFill>
                <a:latin typeface="Arial" panose="020B0604020202020204" pitchFamily="34" charset="0"/>
                <a:ea typeface="Inter"/>
                <a:cs typeface="Arial" panose="020B0604020202020204" pitchFamily="34" charset="0"/>
                <a:sym typeface="Inter"/>
              </a:rPr>
              <a:t>Thông báo khuyến mãi và trạng thái đơn hàng tự động để tăng tương tác.</a:t>
            </a:r>
            <a:endParaRPr>
              <a:latin typeface="Arial" panose="020B0604020202020204" pitchFamily="34" charset="0"/>
              <a:cs typeface="Arial" panose="020B0604020202020204" pitchFamily="34" charset="0"/>
            </a:endParaRPr>
          </a:p>
        </p:txBody>
      </p:sp>
      <p:pic>
        <p:nvPicPr>
          <p:cNvPr id="14" name="Google Shape;215;p21" descr="image.png">
            <a:extLst>
              <a:ext uri="{FF2B5EF4-FFF2-40B4-BE49-F238E27FC236}">
                <a16:creationId xmlns:a16="http://schemas.microsoft.com/office/drawing/2014/main" id="{EC58F5B8-7DFA-BAD2-84C4-173E644332BD}"/>
              </a:ext>
            </a:extLst>
          </p:cNvPr>
          <p:cNvPicPr preferRelativeResize="0"/>
          <p:nvPr/>
        </p:nvPicPr>
        <p:blipFill rotWithShape="1">
          <a:blip r:embed="rId10">
            <a:alphaModFix/>
          </a:blip>
          <a:srcRect/>
          <a:stretch/>
        </p:blipFill>
        <p:spPr>
          <a:xfrm>
            <a:off x="2079427" y="1838325"/>
            <a:ext cx="476250" cy="381000"/>
          </a:xfrm>
          <a:prstGeom prst="rect">
            <a:avLst/>
          </a:prstGeom>
          <a:noFill/>
          <a:ln>
            <a:noFill/>
          </a:ln>
        </p:spPr>
      </p:pic>
      <p:pic>
        <p:nvPicPr>
          <p:cNvPr id="15" name="Google Shape;216;p21" descr="image.png">
            <a:extLst>
              <a:ext uri="{FF2B5EF4-FFF2-40B4-BE49-F238E27FC236}">
                <a16:creationId xmlns:a16="http://schemas.microsoft.com/office/drawing/2014/main" id="{82EEEF9B-0410-90A8-513B-72721C1406F6}"/>
              </a:ext>
            </a:extLst>
          </p:cNvPr>
          <p:cNvPicPr preferRelativeResize="0"/>
          <p:nvPr/>
        </p:nvPicPr>
        <p:blipFill rotWithShape="1">
          <a:blip r:embed="rId11">
            <a:alphaModFix/>
          </a:blip>
          <a:srcRect/>
          <a:stretch/>
        </p:blipFill>
        <p:spPr>
          <a:xfrm>
            <a:off x="5881539" y="1838325"/>
            <a:ext cx="428625" cy="381000"/>
          </a:xfrm>
          <a:prstGeom prst="rect">
            <a:avLst/>
          </a:prstGeom>
          <a:noFill/>
          <a:ln>
            <a:noFill/>
          </a:ln>
        </p:spPr>
      </p:pic>
      <p:pic>
        <p:nvPicPr>
          <p:cNvPr id="16" name="Google Shape;217;p21" descr="image.png">
            <a:extLst>
              <a:ext uri="{FF2B5EF4-FFF2-40B4-BE49-F238E27FC236}">
                <a16:creationId xmlns:a16="http://schemas.microsoft.com/office/drawing/2014/main" id="{E0BD8E4B-B049-2AF2-67FB-BA1AFA453772}"/>
              </a:ext>
            </a:extLst>
          </p:cNvPr>
          <p:cNvPicPr preferRelativeResize="0"/>
          <p:nvPr/>
        </p:nvPicPr>
        <p:blipFill rotWithShape="1">
          <a:blip r:embed="rId12">
            <a:alphaModFix/>
          </a:blip>
          <a:srcRect/>
          <a:stretch/>
        </p:blipFill>
        <p:spPr>
          <a:xfrm>
            <a:off x="9707464" y="1838325"/>
            <a:ext cx="333375" cy="38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p22" descr="image.png"/>
          <p:cNvPicPr preferRelativeResize="0">
            <a:picLocks noGrp="1" noRot="1" noMove="1" noResize="1" noEditPoints="1" noAdjustHandles="1" noChangeArrowheads="1" noChangeShapeType="1" noCrop="1"/>
          </p:cNvPicPr>
          <p:nvPr/>
        </p:nvPicPr>
        <p:blipFill rotWithShape="1">
          <a:blip r:embed="rId3">
            <a:alphaModFix/>
          </a:blip>
          <a:srcRect/>
          <a:stretch/>
        </p:blipFill>
        <p:spPr>
          <a:xfrm>
            <a:off x="0" y="0"/>
            <a:ext cx="12192000" cy="6858000"/>
          </a:xfrm>
          <a:prstGeom prst="rect">
            <a:avLst/>
          </a:prstGeom>
          <a:noFill/>
          <a:ln>
            <a:noFill/>
          </a:ln>
        </p:spPr>
      </p:pic>
      <p:pic>
        <p:nvPicPr>
          <p:cNvPr id="2" name="Google Shape;227;p22" descr="image.png">
            <a:extLst>
              <a:ext uri="{FF2B5EF4-FFF2-40B4-BE49-F238E27FC236}">
                <a16:creationId xmlns:a16="http://schemas.microsoft.com/office/drawing/2014/main" id="{BFFF51E6-3D6E-0EC7-6460-D88918FD79E8}"/>
              </a:ext>
            </a:extLst>
          </p:cNvPr>
          <p:cNvPicPr preferRelativeResize="0">
            <a:picLocks noGrp="1" noRot="1" noMove="1" noResize="1" noEditPoints="1" noAdjustHandles="1" noChangeArrowheads="1" noChangeShapeType="1" noCrop="1"/>
          </p:cNvPicPr>
          <p:nvPr/>
        </p:nvPicPr>
        <p:blipFill rotWithShape="1">
          <a:blip r:embed="rId3">
            <a:alphaModFix/>
          </a:blip>
          <a:srcRect l="2769" t="5953" r="68516" b="75417"/>
          <a:stretch>
            <a:fillRect/>
          </a:stretch>
        </p:blipFill>
        <p:spPr>
          <a:xfrm>
            <a:off x="3423760" y="5477121"/>
            <a:ext cx="5182553" cy="566418"/>
          </a:xfrm>
          <a:prstGeom prst="rect">
            <a:avLst/>
          </a:prstGeom>
          <a:noFill/>
          <a:ln>
            <a:noFill/>
          </a:ln>
        </p:spPr>
      </p:pic>
      <p:pic>
        <p:nvPicPr>
          <p:cNvPr id="228" name="Google Shape;228;p22" descr="image.png"/>
          <p:cNvPicPr preferRelativeResize="0"/>
          <p:nvPr/>
        </p:nvPicPr>
        <p:blipFill rotWithShape="1">
          <a:blip r:embed="rId4">
            <a:alphaModFix/>
          </a:blip>
          <a:srcRect/>
          <a:stretch/>
        </p:blipFill>
        <p:spPr>
          <a:xfrm>
            <a:off x="1900238" y="2509575"/>
            <a:ext cx="8391524" cy="2775869"/>
          </a:xfrm>
          <a:prstGeom prst="rect">
            <a:avLst/>
          </a:prstGeom>
          <a:noFill/>
          <a:ln>
            <a:noFill/>
          </a:ln>
        </p:spPr>
      </p:pic>
      <p:sp>
        <p:nvSpPr>
          <p:cNvPr id="229" name="Google Shape;229;p22"/>
          <p:cNvSpPr txBox="1"/>
          <p:nvPr/>
        </p:nvSpPr>
        <p:spPr>
          <a:xfrm>
            <a:off x="3585686" y="814461"/>
            <a:ext cx="5020627"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3E2723"/>
                </a:solidFill>
                <a:latin typeface="Arial" panose="020B0604020202020204" pitchFamily="34" charset="0"/>
                <a:ea typeface="Playfair Display"/>
                <a:cs typeface="Arial" panose="020B0604020202020204" pitchFamily="34" charset="0"/>
                <a:sym typeface="Playfair Display"/>
              </a:rPr>
              <a:t>Q &amp; A</a:t>
            </a:r>
            <a:endParaRPr>
              <a:latin typeface="Arial" panose="020B0604020202020204" pitchFamily="34" charset="0"/>
              <a:cs typeface="Arial" panose="020B0604020202020204" pitchFamily="34" charset="0"/>
            </a:endParaRPr>
          </a:p>
        </p:txBody>
      </p:sp>
      <p:sp>
        <p:nvSpPr>
          <p:cNvPr id="230" name="Google Shape;230;p22"/>
          <p:cNvSpPr txBox="1"/>
          <p:nvPr/>
        </p:nvSpPr>
        <p:spPr>
          <a:xfrm>
            <a:off x="3095623" y="1737791"/>
            <a:ext cx="6000751" cy="590931"/>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2400" b="0" i="0" u="none" strike="noStrike" cap="none">
                <a:solidFill>
                  <a:srgbClr val="5D4037"/>
                </a:solidFill>
                <a:latin typeface="Arial" panose="020B0604020202020204" pitchFamily="34" charset="0"/>
                <a:ea typeface="Lato"/>
                <a:cs typeface="Arial" panose="020B0604020202020204" pitchFamily="34" charset="0"/>
                <a:sym typeface="Lato"/>
              </a:rPr>
              <a:t>Cảm ơn thầy và các bạn đã lắng nghe!</a:t>
            </a:r>
            <a:endParaRPr sz="2400">
              <a:latin typeface="Arial" panose="020B0604020202020204" pitchFamily="34" charset="0"/>
              <a:cs typeface="Arial" panose="020B0604020202020204" pitchFamily="34" charset="0"/>
            </a:endParaRPr>
          </a:p>
        </p:txBody>
      </p:sp>
      <p:sp>
        <p:nvSpPr>
          <p:cNvPr id="231" name="Google Shape;231;p22"/>
          <p:cNvSpPr txBox="1"/>
          <p:nvPr/>
        </p:nvSpPr>
        <p:spPr>
          <a:xfrm>
            <a:off x="2280523" y="2661121"/>
            <a:ext cx="3230403"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5D4037"/>
                </a:solidFill>
                <a:latin typeface="Arial" panose="020B0604020202020204" pitchFamily="34" charset="0"/>
                <a:ea typeface="Playfair Display"/>
                <a:cs typeface="Arial" panose="020B0604020202020204" pitchFamily="34" charset="0"/>
                <a:sym typeface="Playfair Display"/>
              </a:rPr>
              <a:t>Tài liệu tham khảo</a:t>
            </a:r>
            <a:endParaRPr>
              <a:latin typeface="Arial" panose="020B0604020202020204" pitchFamily="34" charset="0"/>
              <a:cs typeface="Arial" panose="020B0604020202020204" pitchFamily="34" charset="0"/>
            </a:endParaRPr>
          </a:p>
        </p:txBody>
      </p:sp>
      <p:sp>
        <p:nvSpPr>
          <p:cNvPr id="232" name="Google Shape;232;p22"/>
          <p:cNvSpPr/>
          <p:nvPr/>
        </p:nvSpPr>
        <p:spPr>
          <a:xfrm>
            <a:off x="2280523" y="3034486"/>
            <a:ext cx="3076575" cy="19050"/>
          </a:xfrm>
          <a:prstGeom prst="rect">
            <a:avLst/>
          </a:prstGeom>
          <a:solidFill>
            <a:srgbClr val="D7CCC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pitchFamily="34" charset="0"/>
              <a:ea typeface="Calibri"/>
              <a:cs typeface="Arial" panose="020B0604020202020204" pitchFamily="34" charset="0"/>
              <a:sym typeface="Calibri"/>
            </a:endParaRPr>
          </a:p>
        </p:txBody>
      </p:sp>
      <p:sp>
        <p:nvSpPr>
          <p:cNvPr id="3" name="Google Shape;229;p22">
            <a:extLst>
              <a:ext uri="{FF2B5EF4-FFF2-40B4-BE49-F238E27FC236}">
                <a16:creationId xmlns:a16="http://schemas.microsoft.com/office/drawing/2014/main" id="{02A27CAC-37F7-D456-FA8E-45674E74035C}"/>
              </a:ext>
            </a:extLst>
          </p:cNvPr>
          <p:cNvSpPr txBox="1"/>
          <p:nvPr/>
        </p:nvSpPr>
        <p:spPr>
          <a:xfrm>
            <a:off x="2280523" y="3205317"/>
            <a:ext cx="8058150" cy="295466"/>
          </a:xfrm>
          <a:prstGeom prst="rect">
            <a:avLst/>
          </a:prstGeom>
          <a:noFill/>
          <a:ln>
            <a:noFill/>
          </a:ln>
        </p:spPr>
        <p:txBody>
          <a:bodyPr spcFirstLastPara="1" wrap="square" lIns="85725"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chemeClr val="tx1">
                    <a:lumMod val="75000"/>
                    <a:lumOff val="25000"/>
                  </a:schemeClr>
                </a:solidFill>
                <a:latin typeface="Arial" panose="020B0604020202020204" pitchFamily="34" charset="0"/>
                <a:ea typeface="Inter"/>
                <a:cs typeface="Arial" panose="020B0604020202020204" pitchFamily="34" charset="0"/>
                <a:sym typeface="Inter"/>
              </a:rPr>
              <a:t>Android Developers Docs:</a:t>
            </a:r>
            <a:r>
              <a:rPr lang="en-US" sz="1200" b="0" i="0" u="none" strike="noStrike" cap="none">
                <a:solidFill>
                  <a:schemeClr val="tx1">
                    <a:lumMod val="75000"/>
                    <a:lumOff val="25000"/>
                  </a:schemeClr>
                </a:solidFill>
                <a:latin typeface="Arial" panose="020B0604020202020204" pitchFamily="34" charset="0"/>
                <a:ea typeface="Inter"/>
                <a:cs typeface="Arial" panose="020B0604020202020204" pitchFamily="34" charset="0"/>
                <a:sym typeface="Inter"/>
              </a:rPr>
              <a:t> Architecture components, Jetpack Compose.</a:t>
            </a:r>
            <a:endParaRPr>
              <a:solidFill>
                <a:schemeClr val="tx1">
                  <a:lumMod val="75000"/>
                  <a:lumOff val="25000"/>
                </a:schemeClr>
              </a:solidFill>
              <a:latin typeface="Arial" panose="020B0604020202020204" pitchFamily="34" charset="0"/>
              <a:cs typeface="Arial" panose="020B0604020202020204" pitchFamily="34" charset="0"/>
            </a:endParaRPr>
          </a:p>
        </p:txBody>
      </p:sp>
      <p:sp>
        <p:nvSpPr>
          <p:cNvPr id="4" name="Google Shape;231;p22">
            <a:extLst>
              <a:ext uri="{FF2B5EF4-FFF2-40B4-BE49-F238E27FC236}">
                <a16:creationId xmlns:a16="http://schemas.microsoft.com/office/drawing/2014/main" id="{1C7BD43F-40E9-78F0-03E2-6670C1C27C60}"/>
              </a:ext>
            </a:extLst>
          </p:cNvPr>
          <p:cNvSpPr txBox="1"/>
          <p:nvPr/>
        </p:nvSpPr>
        <p:spPr>
          <a:xfrm>
            <a:off x="2280523" y="3544347"/>
            <a:ext cx="8058150" cy="295466"/>
          </a:xfrm>
          <a:prstGeom prst="rect">
            <a:avLst/>
          </a:prstGeom>
          <a:noFill/>
          <a:ln>
            <a:noFill/>
          </a:ln>
        </p:spPr>
        <p:txBody>
          <a:bodyPr spcFirstLastPara="1" wrap="square" lIns="85725"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chemeClr val="tx1">
                    <a:lumMod val="75000"/>
                    <a:lumOff val="25000"/>
                  </a:schemeClr>
                </a:solidFill>
                <a:latin typeface="Arial" panose="020B0604020202020204" pitchFamily="34" charset="0"/>
                <a:ea typeface="Inter"/>
                <a:cs typeface="Arial" panose="020B0604020202020204" pitchFamily="34" charset="0"/>
                <a:sym typeface="Inter"/>
              </a:rPr>
              <a:t>ZaloPay Integration Docs:</a:t>
            </a:r>
            <a:r>
              <a:rPr lang="en-US" sz="1200" b="0" i="0" u="none" strike="noStrike" cap="none">
                <a:solidFill>
                  <a:schemeClr val="tx1">
                    <a:lumMod val="75000"/>
                    <a:lumOff val="25000"/>
                  </a:schemeClr>
                </a:solidFill>
                <a:latin typeface="Arial" panose="020B0604020202020204" pitchFamily="34" charset="0"/>
                <a:ea typeface="Inter"/>
                <a:cs typeface="Arial" panose="020B0604020202020204" pitchFamily="34" charset="0"/>
                <a:sym typeface="Inter"/>
              </a:rPr>
              <a:t> App-to-App payment integration guide.</a:t>
            </a:r>
            <a:endParaRPr>
              <a:solidFill>
                <a:schemeClr val="tx1">
                  <a:lumMod val="75000"/>
                  <a:lumOff val="25000"/>
                </a:schemeClr>
              </a:solidFill>
              <a:latin typeface="Arial" panose="020B0604020202020204" pitchFamily="34" charset="0"/>
              <a:cs typeface="Arial" panose="020B0604020202020204" pitchFamily="34" charset="0"/>
            </a:endParaRPr>
          </a:p>
        </p:txBody>
      </p:sp>
      <p:sp>
        <p:nvSpPr>
          <p:cNvPr id="5" name="Google Shape;233;p22">
            <a:extLst>
              <a:ext uri="{FF2B5EF4-FFF2-40B4-BE49-F238E27FC236}">
                <a16:creationId xmlns:a16="http://schemas.microsoft.com/office/drawing/2014/main" id="{4E9CD375-419E-D6B3-AB49-9251C1C3AC01}"/>
              </a:ext>
            </a:extLst>
          </p:cNvPr>
          <p:cNvSpPr txBox="1"/>
          <p:nvPr/>
        </p:nvSpPr>
        <p:spPr>
          <a:xfrm>
            <a:off x="2280523" y="3883378"/>
            <a:ext cx="8058150" cy="886397"/>
          </a:xfrm>
          <a:prstGeom prst="rect">
            <a:avLst/>
          </a:prstGeom>
          <a:noFill/>
          <a:ln>
            <a:noFill/>
          </a:ln>
        </p:spPr>
        <p:txBody>
          <a:bodyPr spcFirstLastPara="1" wrap="square" lIns="85725"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chemeClr val="tx1">
                    <a:lumMod val="75000"/>
                    <a:lumOff val="25000"/>
                  </a:schemeClr>
                </a:solidFill>
                <a:latin typeface="Arial" panose="020B0604020202020204" pitchFamily="34" charset="0"/>
                <a:ea typeface="Inter"/>
                <a:cs typeface="Arial" panose="020B0604020202020204" pitchFamily="34" charset="0"/>
                <a:sym typeface="Inter"/>
              </a:rPr>
              <a:t>Firebase Documentation:</a:t>
            </a:r>
            <a:r>
              <a:rPr lang="en-US" sz="1200" b="0" i="0" u="none" strike="noStrike" cap="none">
                <a:solidFill>
                  <a:schemeClr val="tx1">
                    <a:lumMod val="75000"/>
                    <a:lumOff val="25000"/>
                  </a:schemeClr>
                </a:solidFill>
                <a:latin typeface="Arial" panose="020B0604020202020204" pitchFamily="34" charset="0"/>
                <a:ea typeface="Inter"/>
                <a:cs typeface="Arial" panose="020B0604020202020204" pitchFamily="34" charset="0"/>
                <a:sym typeface="Inter"/>
              </a:rPr>
              <a:t> Cloud Firestore, Authentication details.</a:t>
            </a:r>
          </a:p>
          <a:p>
            <a:pPr marL="0" marR="0" lvl="0" indent="0" algn="l" rtl="0">
              <a:lnSpc>
                <a:spcPct val="160000"/>
              </a:lnSpc>
              <a:spcBef>
                <a:spcPts val="0"/>
              </a:spcBef>
              <a:spcAft>
                <a:spcPts val="0"/>
              </a:spcAft>
              <a:buNone/>
            </a:pPr>
            <a:r>
              <a:rPr lang="vi-VN" sz="1200" b="1">
                <a:solidFill>
                  <a:schemeClr val="tx1">
                    <a:lumMod val="75000"/>
                    <a:lumOff val="25000"/>
                  </a:schemeClr>
                </a:solidFill>
                <a:latin typeface="Arial" panose="020B0604020202020204" pitchFamily="34" charset="0"/>
                <a:cs typeface="Arial" panose="020B0604020202020204" pitchFamily="34" charset="0"/>
              </a:rPr>
              <a:t>OpenStreetMap (OSMDroid) &amp; Coil Library</a:t>
            </a:r>
            <a:r>
              <a:rPr lang="vi-VN" sz="1200">
                <a:solidFill>
                  <a:schemeClr val="tx1">
                    <a:lumMod val="75000"/>
                    <a:lumOff val="25000"/>
                  </a:schemeClr>
                </a:solidFill>
                <a:latin typeface="Arial" panose="020B0604020202020204" pitchFamily="34" charset="0"/>
                <a:cs typeface="Arial" panose="020B0604020202020204" pitchFamily="34" charset="0"/>
              </a:rPr>
              <a:t>.</a:t>
            </a:r>
          </a:p>
          <a:p>
            <a:pPr marL="0" marR="0" lvl="0" indent="0" algn="l" rtl="0">
              <a:lnSpc>
                <a:spcPct val="160000"/>
              </a:lnSpc>
              <a:spcBef>
                <a:spcPts val="0"/>
              </a:spcBef>
              <a:spcAft>
                <a:spcPts val="0"/>
              </a:spcAft>
              <a:buNone/>
            </a:pPr>
            <a:r>
              <a:rPr lang="vi-VN" sz="1200" b="1">
                <a:solidFill>
                  <a:schemeClr val="tx1">
                    <a:lumMod val="75000"/>
                    <a:lumOff val="25000"/>
                  </a:schemeClr>
                </a:solidFill>
                <a:latin typeface="Arial" panose="020B0604020202020204" pitchFamily="34" charset="0"/>
                <a:cs typeface="Arial" panose="020B0604020202020204" pitchFamily="34" charset="0"/>
              </a:rPr>
              <a:t>OkHttp và Gson for Networking.</a:t>
            </a:r>
            <a:endParaRPr sz="1200" b="1">
              <a:solidFill>
                <a:schemeClr val="tx1">
                  <a:lumMod val="75000"/>
                  <a:lumOff val="25000"/>
                </a:schemeClr>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249</TotalTime>
  <Words>986</Words>
  <Application>Microsoft Office PowerPoint</Application>
  <PresentationFormat>Màn hình rộng</PresentationFormat>
  <Paragraphs>84</Paragraphs>
  <Slides>11</Slides>
  <Notes>11</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11</vt:i4>
      </vt:variant>
    </vt:vector>
  </HeadingPairs>
  <TitlesOfParts>
    <vt:vector size="15" baseType="lpstr">
      <vt:lpstr>Arial</vt:lpstr>
      <vt:lpstr>Poppins</vt:lpstr>
      <vt:lpstr>Times New Roman</vt:lpstr>
      <vt:lpstr>Chủ đề Office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Quang Nguyen Hong</dc:creator>
  <cp:lastModifiedBy>Quang Nguyen Hong</cp:lastModifiedBy>
  <cp:revision>15</cp:revision>
  <dcterms:created xsi:type="dcterms:W3CDTF">2026-01-24T16:12:24Z</dcterms:created>
  <dcterms:modified xsi:type="dcterms:W3CDTF">2026-01-25T10:05:25Z</dcterms:modified>
</cp:coreProperties>
</file>